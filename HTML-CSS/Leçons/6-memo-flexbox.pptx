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108F874-1A53-E09A-AD0F-AE160B41EBB5}">
          <p14:sldIdLst>
            <p14:sldId id="256"/>
            <p14:sldId id="257"/>
            <p14:sldId id="258"/>
          </p14:sldIdLst>
        </p14:section>
        <p14:section name="Propriétés du parent" id="{3381FB35-9467-BF4D-306B-62D60C3251DE}">
          <p14:sldIdLst>
            <p14:sldId id="259"/>
            <p14:sldId id="260"/>
            <p14:sldId id="261"/>
            <p14:sldId id="262"/>
          </p14:sldIdLst>
        </p14:section>
        <p14:section name="Propriétés des enfants" id="{86F30526-168B-F87F-894E-08318E26C181}">
          <p14:sldIdLst>
            <p14:sldId id="263"/>
            <p14:sldId id="264"/>
          </p14:sldIdLst>
        </p14:section>
        <p14:section name="Recettes et pièges" id="{1DA956A4-95D0-DE1C-5247-5A0CA14EFA80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73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de la séance : savoir lire et écrire une mise en page flexbox. Le code couleur orange / bleu est repris sur toutes les diapositives : orange pour l'axe principal (justify-content), bleu pour l'axe secondaire (align-items).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Erreur la plus fréquente : mettre display: flex sur les enfants au lieu du parent. Pour aligner les liens d'un menu, c'est le ul (ou le nav) qui est en flex. Les petits-enfants ne sont pas concernés.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deviner : en column, que fait justify-content: center ? Il centre verticalement. Et align-items: center ? Il centre horizontalement.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remarquer la numérotation : en reverse, l'élément 1 est toujours le premier du HTML, il est juste affiché à l'autre 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space-between, space-around et space-evenly sont montrés sans gap pour bien voir la différence. Avec un gap, celui-ci s'ajoute aux espaces calculés.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éléments ont volontairement des hauteurs différentes pour rendre l'effet visible. C'est souvent stretch, la valeur par défaut, qui surprend les débutants : des colonnes de même hauteur sans rien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 la tuile nowrap, le débordement est volontaire : c'est ce qui arrive réellement dans le navigateur. Le gap est la manière moderne d'espacer : plus besoin de margin-right sur chaque élément sauf le dernier.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flex est un raccourci de trois propriétés : flex-grow (grandir), flex-shrink (rétrécir), flex-basis (taille de départ). Dans 90 % des cas, flex: 1 ou flex: 0 0 Xpx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margin-left: auto est l'astuce la plus utile de cette diapositive : elle remplace souvent un justify-content: space-between quand on veut isoler un seul élément à droite (un bouton de connexion dans une nav, par exemple).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recette correspond à une maquette réalisée en atelier. Demander aux apprenants de retrouver dans leur propre code la ligne qui fait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centrage parfait ne marche que si le parent a une hauteur : sinon il fait la taille de son contenu et il n'y a rien à répartir verticalement.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Utiliser cette diapositive en fin de TP : quand un apprenant bloque, lui demander lequel des six pièges il pense avoir rencontré.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Proposer Flexbox Froggy en fin de séance ou en travail personnel. L'exercice de navigation permet de vérifier que chacun sait choisir entre row, column, space-between et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325880"/>
            <a:ext cx="60350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kern="0" spc="3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737360"/>
            <a:ext cx="62179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8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b="1" kern="0" spc="2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kern="0" spc="3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lexboxfroggy.com/#f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eveloper.mozilla.org/fr/docs/Learn/CSS/CSS_layout/Flexbo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325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chemeClr val="accent6"/>
                </a:solidFill>
              </a:rPr>
              <a:t>MÉMO CSS · MISE EN PAGE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73736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bg1"/>
                </a:solidFill>
              </a:rPr>
              <a:t>Flexbox</a:t>
            </a:r>
            <a:endParaRPr lang="en-US" sz="8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accent4"/>
                </a:solidFill>
              </a:rPr>
              <a:t>Ranger, aligner et répartir des éléments avec display: flex</a:t>
            </a:r>
            <a:endParaRPr lang="en-US" sz="2200" dirty="0"/>
          </a:p>
        </p:txBody>
      </p:sp>
      <p:sp>
        <p:nvSpPr>
          <p:cNvPr id="5" name="Flèche d'axe"/>
          <p:cNvSpPr/>
          <p:nvPr/>
        </p:nvSpPr>
        <p:spPr>
          <a:xfrm>
            <a:off x="548640" y="4892040"/>
            <a:ext cx="8229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1554480" y="4736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Axe principal</a:t>
            </a:r>
            <a:r>
              <a:rPr lang="en-US" sz="1600" dirty="0">
                <a:solidFill>
                  <a:schemeClr val="bg1"/>
                </a:solidFill>
              </a:rPr>
              <a:t>  →  justify-content</a:t>
            </a:r>
            <a:endParaRPr lang="en-US" sz="1600" dirty="0"/>
          </a:p>
        </p:txBody>
      </p:sp>
      <p:sp>
        <p:nvSpPr>
          <p:cNvPr id="7" name="Flèche d'axe"/>
          <p:cNvSpPr/>
          <p:nvPr/>
        </p:nvSpPr>
        <p:spPr>
          <a:xfrm>
            <a:off x="548640" y="5440680"/>
            <a:ext cx="8229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554480" y="5285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Axe secondaire</a:t>
            </a:r>
            <a:r>
              <a:rPr lang="en-US" sz="1600" dirty="0">
                <a:solidFill>
                  <a:schemeClr val="bg1"/>
                </a:solidFill>
              </a:rPr>
              <a:t>  →  align-items</a:t>
            </a:r>
            <a:endParaRPr lang="en-US" sz="1600" dirty="0"/>
          </a:p>
        </p:txBody>
      </p:sp>
      <p:sp>
        <p:nvSpPr>
          <p:cNvPr id="9" name="Conteneur (décor)"/>
          <p:cNvSpPr/>
          <p:nvPr/>
        </p:nvSpPr>
        <p:spPr>
          <a:xfrm>
            <a:off x="7315200" y="1463040"/>
            <a:ext cx="4297680" cy="3108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0" name="Élément 1"/>
          <p:cNvSpPr txBox="1"/>
          <p:nvPr/>
        </p:nvSpPr>
        <p:spPr>
          <a:xfrm>
            <a:off x="7691933" y="2560320"/>
            <a:ext cx="685800" cy="91440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Élément 2"/>
          <p:cNvSpPr txBox="1"/>
          <p:nvPr/>
        </p:nvSpPr>
        <p:spPr>
          <a:xfrm>
            <a:off x="8644738" y="2194560"/>
            <a:ext cx="685800" cy="164592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Élément 3"/>
          <p:cNvSpPr txBox="1"/>
          <p:nvPr/>
        </p:nvSpPr>
        <p:spPr>
          <a:xfrm>
            <a:off x="9597542" y="2423160"/>
            <a:ext cx="685800" cy="118872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Élément 4"/>
          <p:cNvSpPr txBox="1"/>
          <p:nvPr/>
        </p:nvSpPr>
        <p:spPr>
          <a:xfrm>
            <a:off x="10550347" y="2697480"/>
            <a:ext cx="685800" cy="64008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Flèche d'axe"/>
          <p:cNvSpPr/>
          <p:nvPr/>
        </p:nvSpPr>
        <p:spPr>
          <a:xfrm>
            <a:off x="7315200" y="4846320"/>
            <a:ext cx="429768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Flèche d'axe"/>
          <p:cNvSpPr/>
          <p:nvPr/>
        </p:nvSpPr>
        <p:spPr>
          <a:xfrm>
            <a:off x="6995160" y="1463040"/>
            <a:ext cx="0" cy="3108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1 · LE PRINCIPE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Un parent flex, des enfants qui s'alignent</a:t>
            </a:r>
            <a:endParaRPr lang="en-US" sz="3600" dirty="0"/>
          </a:p>
        </p:txBody>
      </p:sp>
      <p:sp>
        <p:nvSpPr>
          <p:cNvPr id="4" name="Code"/>
          <p:cNvSpPr/>
          <p:nvPr/>
        </p:nvSpPr>
        <p:spPr>
          <a:xfrm>
            <a:off x="548640" y="1691640"/>
            <a:ext cx="5120640" cy="4434840"/>
          </a:xfrm>
          <a:prstGeom prst="roundRect">
            <a:avLst>
              <a:gd name="adj" fmla="val 164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 code</a:t>
            </a:r>
            <a:endParaRPr lang="en-US" sz="1400" dirty="0"/>
          </a:p>
        </p:txBody>
      </p:sp>
      <p:sp>
        <p:nvSpPr>
          <p:cNvPr id="6" name="Code"/>
          <p:cNvSpPr txBox="1"/>
          <p:nvPr/>
        </p:nvSpPr>
        <p:spPr>
          <a:xfrm>
            <a:off x="777240" y="2240280"/>
            <a:ext cx="4663440" cy="28803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class="menu"&gt;   </a:t>
            </a:r>
            <a:r>
              <a:rPr lang="en-US" sz="13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parent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&lt;a&gt;Accueil&lt;/a&gt;     </a:t>
            </a:r>
            <a:r>
              <a:rPr lang="en-US" sz="13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enfant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&lt;a&gt;Services&lt;/a&gt;    </a:t>
            </a:r>
            <a:r>
              <a:rPr lang="en-US" sz="13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enfant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&lt;a&gt;Contact&lt;/a&gt;     </a:t>
            </a:r>
            <a:r>
              <a:rPr lang="en-US" sz="13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enfant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257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</a:t>
            </a:r>
            <a:r>
              <a:rPr lang="en-US" sz="1500" dirty="0">
                <a:solidFill>
                  <a:schemeClr val="tx1"/>
                </a:solidFill>
              </a:rPr>
              <a:t> s'écrit sur le </a:t>
            </a:r>
            <a:r>
              <a:rPr lang="en-US" sz="1500" b="1" dirty="0">
                <a:solidFill>
                  <a:schemeClr val="tx1"/>
                </a:solidFill>
              </a:rPr>
              <a:t>parent</a:t>
            </a:r>
            <a:r>
              <a:rPr lang="en-US" sz="1500" dirty="0">
                <a:solidFill>
                  <a:schemeClr val="tx1"/>
                </a:solidFill>
              </a:rPr>
              <a:t>. Seuls ses </a:t>
            </a:r>
            <a:r>
              <a:rPr lang="en-US" sz="1500" b="1" dirty="0">
                <a:solidFill>
                  <a:schemeClr val="tx1"/>
                </a:solidFill>
              </a:rPr>
              <a:t>enfants directs</a:t>
            </a:r>
            <a:r>
              <a:rPr lang="en-US" sz="1500" dirty="0">
                <a:solidFill>
                  <a:schemeClr val="tx1"/>
                </a:solidFill>
              </a:rPr>
              <a:t> se rangent.</a:t>
            </a:r>
            <a:endParaRPr lang="en-US" sz="1500" dirty="0"/>
          </a:p>
        </p:txBody>
      </p:sp>
      <p:sp>
        <p:nvSpPr>
          <p:cNvPr id="8" name="Sans flex"/>
          <p:cNvSpPr/>
          <p:nvPr/>
        </p:nvSpPr>
        <p:spPr>
          <a:xfrm>
            <a:off x="5943600" y="1691640"/>
            <a:ext cx="5696712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1847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Sans display: flex</a:t>
            </a:r>
            <a:r>
              <a:rPr lang="en-US" sz="1400" dirty="0">
                <a:solidFill>
                  <a:schemeClr val="tx1"/>
                </a:solidFill>
              </a:rPr>
              <a:t> : des &lt;div&gt; s'empilent</a:t>
            </a:r>
            <a:endParaRPr lang="en-US" sz="1400" dirty="0"/>
          </a:p>
        </p:txBody>
      </p:sp>
      <p:sp>
        <p:nvSpPr>
          <p:cNvPr id="10" name="Conteneur flex"/>
          <p:cNvSpPr/>
          <p:nvPr/>
        </p:nvSpPr>
        <p:spPr>
          <a:xfrm>
            <a:off x="6172200" y="2240280"/>
            <a:ext cx="523951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1" name="Élément div"/>
          <p:cNvSpPr txBox="1"/>
          <p:nvPr/>
        </p:nvSpPr>
        <p:spPr>
          <a:xfrm>
            <a:off x="6263640" y="2331720"/>
            <a:ext cx="5056632" cy="329184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endParaRPr lang="en-US" sz="1200" dirty="0"/>
          </a:p>
        </p:txBody>
      </p:sp>
      <p:sp>
        <p:nvSpPr>
          <p:cNvPr id="12" name="Élément div"/>
          <p:cNvSpPr txBox="1"/>
          <p:nvPr/>
        </p:nvSpPr>
        <p:spPr>
          <a:xfrm>
            <a:off x="6263640" y="2734056"/>
            <a:ext cx="5056632" cy="329184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endParaRPr lang="en-US" sz="1200" dirty="0"/>
          </a:p>
        </p:txBody>
      </p:sp>
      <p:sp>
        <p:nvSpPr>
          <p:cNvPr id="13" name="Élément div"/>
          <p:cNvSpPr txBox="1"/>
          <p:nvPr/>
        </p:nvSpPr>
        <p:spPr>
          <a:xfrm>
            <a:off x="6263640" y="3136392"/>
            <a:ext cx="5056632" cy="329184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endParaRPr lang="en-US" sz="1200" dirty="0"/>
          </a:p>
        </p:txBody>
      </p:sp>
      <p:sp>
        <p:nvSpPr>
          <p:cNvPr id="14" name="Avec flex"/>
          <p:cNvSpPr/>
          <p:nvPr/>
        </p:nvSpPr>
        <p:spPr>
          <a:xfrm>
            <a:off x="5943600" y="4023360"/>
            <a:ext cx="5696712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Avec display: flex</a:t>
            </a:r>
            <a:r>
              <a:rPr lang="en-US" sz="1400" dirty="0">
                <a:solidFill>
                  <a:schemeClr val="tx1"/>
                </a:solidFill>
              </a:rPr>
              <a:t> sur .menu : les enfants se rangent en ligne</a:t>
            </a:r>
            <a:endParaRPr lang="en-US" sz="1400" dirty="0"/>
          </a:p>
        </p:txBody>
      </p:sp>
      <p:sp>
        <p:nvSpPr>
          <p:cNvPr id="16" name="Conteneur flex"/>
          <p:cNvSpPr/>
          <p:nvPr/>
        </p:nvSpPr>
        <p:spPr>
          <a:xfrm>
            <a:off x="6172200" y="4572000"/>
            <a:ext cx="523951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7" name="Élément Accueil"/>
          <p:cNvSpPr txBox="1"/>
          <p:nvPr/>
        </p:nvSpPr>
        <p:spPr>
          <a:xfrm>
            <a:off x="6263640" y="4983480"/>
            <a:ext cx="1188720" cy="438912"/>
          </a:xfrm>
          <a:prstGeom prst="roundRect">
            <a:avLst>
              <a:gd name="adj" fmla="val 1041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Accueil</a:t>
            </a:r>
            <a:endParaRPr lang="en-US" sz="1200" dirty="0"/>
          </a:p>
        </p:txBody>
      </p:sp>
      <p:sp>
        <p:nvSpPr>
          <p:cNvPr id="18" name="Élément Services"/>
          <p:cNvSpPr txBox="1"/>
          <p:nvPr/>
        </p:nvSpPr>
        <p:spPr>
          <a:xfrm>
            <a:off x="7635240" y="4983480"/>
            <a:ext cx="1280160" cy="438912"/>
          </a:xfrm>
          <a:prstGeom prst="roundRect">
            <a:avLst>
              <a:gd name="adj" fmla="val 1041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9" name="Élément Contact"/>
          <p:cNvSpPr txBox="1"/>
          <p:nvPr/>
        </p:nvSpPr>
        <p:spPr>
          <a:xfrm>
            <a:off x="9098280" y="4983480"/>
            <a:ext cx="1188720" cy="438912"/>
          </a:xfrm>
          <a:prstGeom prst="roundRect">
            <a:avLst>
              <a:gd name="adj" fmla="val 1041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4626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2 · LA NOTION CLÉ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Deux axes, qui pivotent avec flex-direction</a:t>
            </a:r>
            <a:endParaRPr lang="en-US" sz="3600" dirty="0"/>
          </a:p>
        </p:txBody>
      </p:sp>
      <p:sp>
        <p:nvSpPr>
          <p:cNvPr id="4" name="Axes row"/>
          <p:cNvSpPr/>
          <p:nvPr/>
        </p:nvSpPr>
        <p:spPr>
          <a:xfrm>
            <a:off x="548640" y="1691640"/>
            <a:ext cx="539496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flex-direction: row  (par défaut)</a:t>
            </a:r>
            <a:endParaRPr lang="en-US" sz="1500" dirty="0"/>
          </a:p>
        </p:txBody>
      </p:sp>
      <p:sp>
        <p:nvSpPr>
          <p:cNvPr id="6" name="Conteneur flex"/>
          <p:cNvSpPr/>
          <p:nvPr/>
        </p:nvSpPr>
        <p:spPr>
          <a:xfrm>
            <a:off x="1417320" y="2651760"/>
            <a:ext cx="4251960" cy="1874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7" name="Élément 1"/>
          <p:cNvSpPr txBox="1"/>
          <p:nvPr/>
        </p:nvSpPr>
        <p:spPr>
          <a:xfrm>
            <a:off x="1508760" y="274320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Élément 2"/>
          <p:cNvSpPr txBox="1"/>
          <p:nvPr/>
        </p:nvSpPr>
        <p:spPr>
          <a:xfrm>
            <a:off x="2039112" y="274320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Élément 3"/>
          <p:cNvSpPr txBox="1"/>
          <p:nvPr/>
        </p:nvSpPr>
        <p:spPr>
          <a:xfrm>
            <a:off x="2569464" y="274320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Flèche d'axe"/>
          <p:cNvSpPr/>
          <p:nvPr/>
        </p:nvSpPr>
        <p:spPr>
          <a:xfrm>
            <a:off x="1051560" y="2651760"/>
            <a:ext cx="0" cy="18745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7724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axe secondaire : align-items</a:t>
            </a:r>
            <a:endParaRPr lang="en-US" sz="1200" dirty="0"/>
          </a:p>
        </p:txBody>
      </p:sp>
      <p:sp>
        <p:nvSpPr>
          <p:cNvPr id="12" name="Flèche d'axe"/>
          <p:cNvSpPr/>
          <p:nvPr/>
        </p:nvSpPr>
        <p:spPr>
          <a:xfrm>
            <a:off x="1417320" y="4782312"/>
            <a:ext cx="42519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417320" y="48920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 principal  →  justify-content</a:t>
            </a:r>
            <a:endParaRPr lang="en-US" sz="1200" dirty="0"/>
          </a:p>
        </p:txBody>
      </p:sp>
      <p:sp>
        <p:nvSpPr>
          <p:cNvPr id="14" name="Axes column"/>
          <p:cNvSpPr/>
          <p:nvPr/>
        </p:nvSpPr>
        <p:spPr>
          <a:xfrm>
            <a:off x="6245352" y="1691640"/>
            <a:ext cx="539496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flex-direction: column</a:t>
            </a:r>
            <a:endParaRPr lang="en-US" sz="1500" dirty="0"/>
          </a:p>
        </p:txBody>
      </p:sp>
      <p:sp>
        <p:nvSpPr>
          <p:cNvPr id="16" name="Conteneur flex"/>
          <p:cNvSpPr/>
          <p:nvPr/>
        </p:nvSpPr>
        <p:spPr>
          <a:xfrm>
            <a:off x="7114032" y="2651760"/>
            <a:ext cx="4251960" cy="1874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7" name="Élément 1"/>
          <p:cNvSpPr txBox="1"/>
          <p:nvPr/>
        </p:nvSpPr>
        <p:spPr>
          <a:xfrm>
            <a:off x="7205472" y="274320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Élément 2"/>
          <p:cNvSpPr txBox="1"/>
          <p:nvPr/>
        </p:nvSpPr>
        <p:spPr>
          <a:xfrm>
            <a:off x="7205472" y="320040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Élément 3"/>
          <p:cNvSpPr txBox="1"/>
          <p:nvPr/>
        </p:nvSpPr>
        <p:spPr>
          <a:xfrm>
            <a:off x="7205472" y="365760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Flèche d'axe"/>
          <p:cNvSpPr/>
          <p:nvPr/>
        </p:nvSpPr>
        <p:spPr>
          <a:xfrm>
            <a:off x="6748272" y="2651760"/>
            <a:ext cx="0" cy="18745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473952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axe principal : justify-content</a:t>
            </a:r>
            <a:endParaRPr lang="en-US" sz="1200" dirty="0"/>
          </a:p>
        </p:txBody>
      </p:sp>
      <p:sp>
        <p:nvSpPr>
          <p:cNvPr id="22" name="Flèche d'axe"/>
          <p:cNvSpPr/>
          <p:nvPr/>
        </p:nvSpPr>
        <p:spPr>
          <a:xfrm>
            <a:off x="7114032" y="4782312"/>
            <a:ext cx="42519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114032" y="48920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 secondaire  →  align-items</a:t>
            </a:r>
            <a:endParaRPr lang="en-US" sz="1200" dirty="0"/>
          </a:p>
        </p:txBody>
      </p:sp>
      <p:sp>
        <p:nvSpPr>
          <p:cNvPr id="24" name="À retenir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5" name="À retenir (texte)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r>
              <a:rPr lang="en-US" sz="1500" dirty="0">
                <a:solidFill>
                  <a:schemeClr val="tx1"/>
                </a:solidFill>
              </a:rPr>
              <a:t> agit toujours sur l'axe principal, </a:t>
            </a: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r>
              <a:rPr lang="en-US" sz="1500" dirty="0">
                <a:solidFill>
                  <a:schemeClr val="tx1"/>
                </a:solidFill>
              </a:rPr>
              <a:t> toujours sur l'axe secondaire. En column, les deux axes tournent : c'est l'erreur la plus fréquente.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3 · PROPRIÉTÉS DU PARENT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flex-direction : le sens</a:t>
            </a:r>
            <a:endParaRPr lang="en-US" sz="3600" dirty="0"/>
          </a:p>
        </p:txBody>
      </p:sp>
      <p:sp>
        <p:nvSpPr>
          <p:cNvPr id="4" name="Tuile row"/>
          <p:cNvSpPr/>
          <p:nvPr/>
        </p:nvSpPr>
        <p:spPr>
          <a:xfrm>
            <a:off x="548640" y="1691640"/>
            <a:ext cx="2567178" cy="3611880"/>
          </a:xfrm>
          <a:prstGeom prst="roundRect">
            <a:avLst>
              <a:gd name="adj" fmla="val 285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Conteneur flex"/>
          <p:cNvSpPr/>
          <p:nvPr/>
        </p:nvSpPr>
        <p:spPr>
          <a:xfrm>
            <a:off x="731520" y="1874520"/>
            <a:ext cx="2201418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6" name="Élément 1"/>
          <p:cNvSpPr txBox="1"/>
          <p:nvPr/>
        </p:nvSpPr>
        <p:spPr>
          <a:xfrm>
            <a:off x="822960" y="19659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Élément 2"/>
          <p:cNvSpPr txBox="1"/>
          <p:nvPr/>
        </p:nvSpPr>
        <p:spPr>
          <a:xfrm>
            <a:off x="1307592" y="19659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Élément 3"/>
          <p:cNvSpPr txBox="1"/>
          <p:nvPr/>
        </p:nvSpPr>
        <p:spPr>
          <a:xfrm>
            <a:off x="1792224" y="19659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Propriété"/>
          <p:cNvSpPr txBox="1"/>
          <p:nvPr/>
        </p:nvSpPr>
        <p:spPr>
          <a:xfrm>
            <a:off x="731520" y="4105656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endParaRPr lang="en-US" sz="1300" dirty="0"/>
          </a:p>
        </p:txBody>
      </p:sp>
      <p:sp>
        <p:nvSpPr>
          <p:cNvPr id="10" name="Explication"/>
          <p:cNvSpPr txBox="1"/>
          <p:nvPr/>
        </p:nvSpPr>
        <p:spPr>
          <a:xfrm>
            <a:off x="731520" y="4416552"/>
            <a:ext cx="220141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Par défaut. De gauche à droite.</a:t>
            </a:r>
            <a:endParaRPr lang="en-US" sz="1200" dirty="0"/>
          </a:p>
        </p:txBody>
      </p:sp>
      <p:sp>
        <p:nvSpPr>
          <p:cNvPr id="11" name="Tuile row-reverse"/>
          <p:cNvSpPr/>
          <p:nvPr/>
        </p:nvSpPr>
        <p:spPr>
          <a:xfrm>
            <a:off x="3390138" y="1691640"/>
            <a:ext cx="2567178" cy="3611880"/>
          </a:xfrm>
          <a:prstGeom prst="roundRect">
            <a:avLst>
              <a:gd name="adj" fmla="val 285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Conteneur flex"/>
          <p:cNvSpPr/>
          <p:nvPr/>
        </p:nvSpPr>
        <p:spPr>
          <a:xfrm>
            <a:off x="3573018" y="1874520"/>
            <a:ext cx="2201418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3" name="Élément 1"/>
          <p:cNvSpPr txBox="1"/>
          <p:nvPr/>
        </p:nvSpPr>
        <p:spPr>
          <a:xfrm>
            <a:off x="5271516" y="19659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Élément 2"/>
          <p:cNvSpPr txBox="1"/>
          <p:nvPr/>
        </p:nvSpPr>
        <p:spPr>
          <a:xfrm>
            <a:off x="4786884" y="19659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Élément 3"/>
          <p:cNvSpPr txBox="1"/>
          <p:nvPr/>
        </p:nvSpPr>
        <p:spPr>
          <a:xfrm>
            <a:off x="4302252" y="19659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Propriété"/>
          <p:cNvSpPr txBox="1"/>
          <p:nvPr/>
        </p:nvSpPr>
        <p:spPr>
          <a:xfrm>
            <a:off x="3573018" y="4105656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row-reverse</a:t>
            </a:r>
            <a:endParaRPr lang="en-US" sz="1300" dirty="0"/>
          </a:p>
        </p:txBody>
      </p:sp>
      <p:sp>
        <p:nvSpPr>
          <p:cNvPr id="17" name="Explication"/>
          <p:cNvSpPr txBox="1"/>
          <p:nvPr/>
        </p:nvSpPr>
        <p:spPr>
          <a:xfrm>
            <a:off x="3573018" y="4416552"/>
            <a:ext cx="220141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De droite à gauche. Le HTML ne change pas.</a:t>
            </a:r>
            <a:endParaRPr lang="en-US" sz="1200" dirty="0"/>
          </a:p>
        </p:txBody>
      </p:sp>
      <p:sp>
        <p:nvSpPr>
          <p:cNvPr id="18" name="Tuile column"/>
          <p:cNvSpPr/>
          <p:nvPr/>
        </p:nvSpPr>
        <p:spPr>
          <a:xfrm>
            <a:off x="6231636" y="1691640"/>
            <a:ext cx="2567178" cy="3611880"/>
          </a:xfrm>
          <a:prstGeom prst="roundRect">
            <a:avLst>
              <a:gd name="adj" fmla="val 285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Conteneur flex"/>
          <p:cNvSpPr/>
          <p:nvPr/>
        </p:nvSpPr>
        <p:spPr>
          <a:xfrm>
            <a:off x="6414516" y="1874520"/>
            <a:ext cx="2201418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0" name="Élément 1"/>
          <p:cNvSpPr txBox="1"/>
          <p:nvPr/>
        </p:nvSpPr>
        <p:spPr>
          <a:xfrm>
            <a:off x="6505956" y="19659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Élément 2"/>
          <p:cNvSpPr txBox="1"/>
          <p:nvPr/>
        </p:nvSpPr>
        <p:spPr>
          <a:xfrm>
            <a:off x="6505956" y="24231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Élément 3"/>
          <p:cNvSpPr txBox="1"/>
          <p:nvPr/>
        </p:nvSpPr>
        <p:spPr>
          <a:xfrm>
            <a:off x="6505956" y="28803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Propriété"/>
          <p:cNvSpPr txBox="1"/>
          <p:nvPr/>
        </p:nvSpPr>
        <p:spPr>
          <a:xfrm>
            <a:off x="6414516" y="4105656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endParaRPr lang="en-US" sz="1300" dirty="0"/>
          </a:p>
        </p:txBody>
      </p:sp>
      <p:sp>
        <p:nvSpPr>
          <p:cNvPr id="24" name="Explication"/>
          <p:cNvSpPr txBox="1"/>
          <p:nvPr/>
        </p:nvSpPr>
        <p:spPr>
          <a:xfrm>
            <a:off x="6414516" y="4416552"/>
            <a:ext cx="220141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De haut en bas. Très utilisé sur mobile.</a:t>
            </a:r>
            <a:endParaRPr lang="en-US" sz="1200" dirty="0"/>
          </a:p>
        </p:txBody>
      </p:sp>
      <p:sp>
        <p:nvSpPr>
          <p:cNvPr id="25" name="Tuile column-reverse"/>
          <p:cNvSpPr/>
          <p:nvPr/>
        </p:nvSpPr>
        <p:spPr>
          <a:xfrm>
            <a:off x="9073134" y="1691640"/>
            <a:ext cx="2567178" cy="3611880"/>
          </a:xfrm>
          <a:prstGeom prst="roundRect">
            <a:avLst>
              <a:gd name="adj" fmla="val 285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Conteneur flex"/>
          <p:cNvSpPr/>
          <p:nvPr/>
        </p:nvSpPr>
        <p:spPr>
          <a:xfrm>
            <a:off x="9256014" y="1874520"/>
            <a:ext cx="2201418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7" name="Élément 1"/>
          <p:cNvSpPr txBox="1"/>
          <p:nvPr/>
        </p:nvSpPr>
        <p:spPr>
          <a:xfrm>
            <a:off x="9347454" y="3502152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Élément 2"/>
          <p:cNvSpPr txBox="1"/>
          <p:nvPr/>
        </p:nvSpPr>
        <p:spPr>
          <a:xfrm>
            <a:off x="9347454" y="3044952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Élément 3"/>
          <p:cNvSpPr txBox="1"/>
          <p:nvPr/>
        </p:nvSpPr>
        <p:spPr>
          <a:xfrm>
            <a:off x="9347454" y="2587752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Propriété"/>
          <p:cNvSpPr txBox="1"/>
          <p:nvPr/>
        </p:nvSpPr>
        <p:spPr>
          <a:xfrm>
            <a:off x="9256014" y="4105656"/>
            <a:ext cx="2201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column-reverse</a:t>
            </a:r>
            <a:endParaRPr lang="en-US" sz="1300" dirty="0"/>
          </a:p>
        </p:txBody>
      </p:sp>
      <p:sp>
        <p:nvSpPr>
          <p:cNvPr id="31" name="Explication"/>
          <p:cNvSpPr txBox="1"/>
          <p:nvPr/>
        </p:nvSpPr>
        <p:spPr>
          <a:xfrm>
            <a:off x="9256014" y="4416552"/>
            <a:ext cx="220141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De bas en haut.</a:t>
            </a:r>
            <a:endParaRPr lang="en-US" sz="1200" dirty="0"/>
          </a:p>
        </p:txBody>
      </p:sp>
      <p:sp>
        <p:nvSpPr>
          <p:cNvPr id="32" name="À retenir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3" name="À retenir (texte)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row-reverse</a:t>
            </a:r>
            <a:r>
              <a:rPr lang="en-US" sz="1500" dirty="0">
                <a:solidFill>
                  <a:schemeClr val="tx1"/>
                </a:solidFill>
              </a:rPr>
              <a:t> et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column-reverse</a:t>
            </a:r>
            <a:r>
              <a:rPr lang="en-US" sz="1500" dirty="0">
                <a:solidFill>
                  <a:schemeClr val="tx1"/>
                </a:solidFill>
              </a:rPr>
              <a:t> changent l'affichage, jamais l'ordre du HTML. C'est le principe de l'alternance image gauche / image droite d'Ila Yoga.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3 · PROPRIÉTÉS DU PARENT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justify-content</a:t>
            </a:r>
            <a:r>
              <a:rPr lang="en-US" sz="3600" b="1" dirty="0">
                <a:solidFill>
                  <a:schemeClr val="tx1"/>
                </a:solidFill>
              </a:rPr>
              <a:t> : répartir sur l'axe principal</a:t>
            </a:r>
            <a:endParaRPr lang="en-US" sz="3600" dirty="0"/>
          </a:p>
        </p:txBody>
      </p:sp>
      <p:sp>
        <p:nvSpPr>
          <p:cNvPr id="4" name="Tuile justify-content: flex-start"/>
          <p:cNvSpPr/>
          <p:nvPr/>
        </p:nvSpPr>
        <p:spPr>
          <a:xfrm>
            <a:off x="548640" y="1691640"/>
            <a:ext cx="3514344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Conteneur flex"/>
          <p:cNvSpPr/>
          <p:nvPr/>
        </p:nvSpPr>
        <p:spPr>
          <a:xfrm>
            <a:off x="731520" y="1874520"/>
            <a:ext cx="3148584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6" name="Élément 1"/>
          <p:cNvSpPr txBox="1"/>
          <p:nvPr/>
        </p:nvSpPr>
        <p:spPr>
          <a:xfrm>
            <a:off x="822960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Élément 2"/>
          <p:cNvSpPr txBox="1"/>
          <p:nvPr/>
        </p:nvSpPr>
        <p:spPr>
          <a:xfrm>
            <a:off x="1353312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Élément 3"/>
          <p:cNvSpPr txBox="1"/>
          <p:nvPr/>
        </p:nvSpPr>
        <p:spPr>
          <a:xfrm>
            <a:off x="1883664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Propriété"/>
          <p:cNvSpPr txBox="1"/>
          <p:nvPr/>
        </p:nvSpPr>
        <p:spPr>
          <a:xfrm>
            <a:off x="731520" y="277977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flex-start</a:t>
            </a:r>
            <a:endParaRPr lang="en-US" sz="1300" dirty="0"/>
          </a:p>
        </p:txBody>
      </p:sp>
      <p:sp>
        <p:nvSpPr>
          <p:cNvPr id="10" name="Explication"/>
          <p:cNvSpPr txBox="1"/>
          <p:nvPr/>
        </p:nvSpPr>
        <p:spPr>
          <a:xfrm>
            <a:off x="731520" y="3090672"/>
            <a:ext cx="3148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Au début de l'axe (par défaut).</a:t>
            </a:r>
            <a:endParaRPr lang="en-US" sz="1200" dirty="0"/>
          </a:p>
        </p:txBody>
      </p:sp>
      <p:sp>
        <p:nvSpPr>
          <p:cNvPr id="11" name="Tuile justify-content: center"/>
          <p:cNvSpPr/>
          <p:nvPr/>
        </p:nvSpPr>
        <p:spPr>
          <a:xfrm>
            <a:off x="4337304" y="1691640"/>
            <a:ext cx="3514344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Conteneur flex"/>
          <p:cNvSpPr/>
          <p:nvPr/>
        </p:nvSpPr>
        <p:spPr>
          <a:xfrm>
            <a:off x="4520184" y="1874520"/>
            <a:ext cx="3148584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3" name="Élément 1"/>
          <p:cNvSpPr txBox="1"/>
          <p:nvPr/>
        </p:nvSpPr>
        <p:spPr>
          <a:xfrm>
            <a:off x="5335524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Élément 2"/>
          <p:cNvSpPr txBox="1"/>
          <p:nvPr/>
        </p:nvSpPr>
        <p:spPr>
          <a:xfrm>
            <a:off x="5865876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Élément 3"/>
          <p:cNvSpPr txBox="1"/>
          <p:nvPr/>
        </p:nvSpPr>
        <p:spPr>
          <a:xfrm>
            <a:off x="6396228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Propriété"/>
          <p:cNvSpPr txBox="1"/>
          <p:nvPr/>
        </p:nvSpPr>
        <p:spPr>
          <a:xfrm>
            <a:off x="4520184" y="277977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center</a:t>
            </a:r>
            <a:endParaRPr lang="en-US" sz="1300" dirty="0"/>
          </a:p>
        </p:txBody>
      </p:sp>
      <p:sp>
        <p:nvSpPr>
          <p:cNvPr id="17" name="Explication"/>
          <p:cNvSpPr txBox="1"/>
          <p:nvPr/>
        </p:nvSpPr>
        <p:spPr>
          <a:xfrm>
            <a:off x="4520184" y="3090672"/>
            <a:ext cx="3148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Groupés au centre.</a:t>
            </a:r>
            <a:endParaRPr lang="en-US" sz="1200" dirty="0"/>
          </a:p>
        </p:txBody>
      </p:sp>
      <p:sp>
        <p:nvSpPr>
          <p:cNvPr id="18" name="Tuile justify-content: flex-end"/>
          <p:cNvSpPr/>
          <p:nvPr/>
        </p:nvSpPr>
        <p:spPr>
          <a:xfrm>
            <a:off x="8125968" y="1691640"/>
            <a:ext cx="3514344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Conteneur flex"/>
          <p:cNvSpPr/>
          <p:nvPr/>
        </p:nvSpPr>
        <p:spPr>
          <a:xfrm>
            <a:off x="8308848" y="1874520"/>
            <a:ext cx="3148584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0" name="Élément 1"/>
          <p:cNvSpPr txBox="1"/>
          <p:nvPr/>
        </p:nvSpPr>
        <p:spPr>
          <a:xfrm>
            <a:off x="9848088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Élément 2"/>
          <p:cNvSpPr txBox="1"/>
          <p:nvPr/>
        </p:nvSpPr>
        <p:spPr>
          <a:xfrm>
            <a:off x="10378440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Élément 3"/>
          <p:cNvSpPr txBox="1"/>
          <p:nvPr/>
        </p:nvSpPr>
        <p:spPr>
          <a:xfrm>
            <a:off x="10908792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Propriété"/>
          <p:cNvSpPr txBox="1"/>
          <p:nvPr/>
        </p:nvSpPr>
        <p:spPr>
          <a:xfrm>
            <a:off x="8308848" y="277977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flex-end</a:t>
            </a:r>
            <a:endParaRPr lang="en-US" sz="1300" dirty="0"/>
          </a:p>
        </p:txBody>
      </p:sp>
      <p:sp>
        <p:nvSpPr>
          <p:cNvPr id="24" name="Explication"/>
          <p:cNvSpPr txBox="1"/>
          <p:nvPr/>
        </p:nvSpPr>
        <p:spPr>
          <a:xfrm>
            <a:off x="8308848" y="3090672"/>
            <a:ext cx="3148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À la fin de l'axe.</a:t>
            </a:r>
            <a:endParaRPr lang="en-US" sz="1200" dirty="0"/>
          </a:p>
        </p:txBody>
      </p:sp>
      <p:sp>
        <p:nvSpPr>
          <p:cNvPr id="25" name="Tuile justify-content: space-between"/>
          <p:cNvSpPr/>
          <p:nvPr/>
        </p:nvSpPr>
        <p:spPr>
          <a:xfrm>
            <a:off x="548640" y="4114800"/>
            <a:ext cx="3514344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Conteneur flex"/>
          <p:cNvSpPr/>
          <p:nvPr/>
        </p:nvSpPr>
        <p:spPr>
          <a:xfrm>
            <a:off x="731520" y="4297680"/>
            <a:ext cx="3148584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7" name="Élément 1"/>
          <p:cNvSpPr txBox="1"/>
          <p:nvPr/>
        </p:nvSpPr>
        <p:spPr>
          <a:xfrm>
            <a:off x="822960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Élément 2"/>
          <p:cNvSpPr txBox="1"/>
          <p:nvPr/>
        </p:nvSpPr>
        <p:spPr>
          <a:xfrm>
            <a:off x="2077212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Élément 3"/>
          <p:cNvSpPr txBox="1"/>
          <p:nvPr/>
        </p:nvSpPr>
        <p:spPr>
          <a:xfrm>
            <a:off x="3331464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Propriété"/>
          <p:cNvSpPr txBox="1"/>
          <p:nvPr/>
        </p:nvSpPr>
        <p:spPr>
          <a:xfrm>
            <a:off x="731520" y="520293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space-between</a:t>
            </a:r>
            <a:endParaRPr lang="en-US" sz="1300" dirty="0"/>
          </a:p>
        </p:txBody>
      </p:sp>
      <p:sp>
        <p:nvSpPr>
          <p:cNvPr id="31" name="Explication"/>
          <p:cNvSpPr txBox="1"/>
          <p:nvPr/>
        </p:nvSpPr>
        <p:spPr>
          <a:xfrm>
            <a:off x="731520" y="5513832"/>
            <a:ext cx="3148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Premier et dernier collés aux bords, espace égal entre. Le classique logo / menu.</a:t>
            </a:r>
            <a:endParaRPr lang="en-US" sz="1200" dirty="0"/>
          </a:p>
        </p:txBody>
      </p:sp>
      <p:sp>
        <p:nvSpPr>
          <p:cNvPr id="32" name="Tuile justify-content: space-around"/>
          <p:cNvSpPr/>
          <p:nvPr/>
        </p:nvSpPr>
        <p:spPr>
          <a:xfrm>
            <a:off x="4337304" y="4114800"/>
            <a:ext cx="3514344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3" name="Conteneur flex"/>
          <p:cNvSpPr/>
          <p:nvPr/>
        </p:nvSpPr>
        <p:spPr>
          <a:xfrm>
            <a:off x="4520184" y="4297680"/>
            <a:ext cx="3148584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4" name="Élément 1"/>
          <p:cNvSpPr txBox="1"/>
          <p:nvPr/>
        </p:nvSpPr>
        <p:spPr>
          <a:xfrm>
            <a:off x="4877308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Élément 2"/>
          <p:cNvSpPr txBox="1"/>
          <p:nvPr/>
        </p:nvSpPr>
        <p:spPr>
          <a:xfrm>
            <a:off x="5865876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Élément 3"/>
          <p:cNvSpPr txBox="1"/>
          <p:nvPr/>
        </p:nvSpPr>
        <p:spPr>
          <a:xfrm>
            <a:off x="6854444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Propriété"/>
          <p:cNvSpPr txBox="1"/>
          <p:nvPr/>
        </p:nvSpPr>
        <p:spPr>
          <a:xfrm>
            <a:off x="4520184" y="520293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space-around</a:t>
            </a:r>
            <a:endParaRPr lang="en-US" sz="1300" dirty="0"/>
          </a:p>
        </p:txBody>
      </p:sp>
      <p:sp>
        <p:nvSpPr>
          <p:cNvPr id="38" name="Explication"/>
          <p:cNvSpPr txBox="1"/>
          <p:nvPr/>
        </p:nvSpPr>
        <p:spPr>
          <a:xfrm>
            <a:off x="4520184" y="5513832"/>
            <a:ext cx="3148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Même marge de chaque côté de chaque élément : demi-espace aux bords.</a:t>
            </a:r>
            <a:endParaRPr lang="en-US" sz="1200" dirty="0"/>
          </a:p>
        </p:txBody>
      </p:sp>
      <p:sp>
        <p:nvSpPr>
          <p:cNvPr id="39" name="Tuile justify-content: space-evenly"/>
          <p:cNvSpPr/>
          <p:nvPr/>
        </p:nvSpPr>
        <p:spPr>
          <a:xfrm>
            <a:off x="8125968" y="4114800"/>
            <a:ext cx="3514344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0" name="Conteneur flex"/>
          <p:cNvSpPr/>
          <p:nvPr/>
        </p:nvSpPr>
        <p:spPr>
          <a:xfrm>
            <a:off x="8308848" y="4297680"/>
            <a:ext cx="3148584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41" name="Élément 1"/>
          <p:cNvSpPr txBox="1"/>
          <p:nvPr/>
        </p:nvSpPr>
        <p:spPr>
          <a:xfrm>
            <a:off x="8798814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Élément 2"/>
          <p:cNvSpPr txBox="1"/>
          <p:nvPr/>
        </p:nvSpPr>
        <p:spPr>
          <a:xfrm>
            <a:off x="9654540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Élément 3"/>
          <p:cNvSpPr txBox="1"/>
          <p:nvPr/>
        </p:nvSpPr>
        <p:spPr>
          <a:xfrm>
            <a:off x="10510266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Propriété"/>
          <p:cNvSpPr txBox="1"/>
          <p:nvPr/>
        </p:nvSpPr>
        <p:spPr>
          <a:xfrm>
            <a:off x="8308848" y="520293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space-evenly</a:t>
            </a:r>
            <a:endParaRPr lang="en-US" sz="1300" dirty="0"/>
          </a:p>
        </p:txBody>
      </p:sp>
      <p:sp>
        <p:nvSpPr>
          <p:cNvPr id="45" name="Explication"/>
          <p:cNvSpPr txBox="1"/>
          <p:nvPr/>
        </p:nvSpPr>
        <p:spPr>
          <a:xfrm>
            <a:off x="8308848" y="5513832"/>
            <a:ext cx="3148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Tous les espaces identiques, bords compris.</a:t>
            </a:r>
            <a:endParaRPr lang="en-US" sz="12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3 · PROPRIÉTÉS DU PARENT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2"/>
                </a:solidFill>
              </a:rPr>
              <a:t>align-items</a:t>
            </a:r>
            <a:r>
              <a:rPr lang="en-US" sz="3600" b="1" dirty="0">
                <a:solidFill>
                  <a:schemeClr val="tx1"/>
                </a:solidFill>
              </a:rPr>
              <a:t> : aligner sur l'axe secondaire</a:t>
            </a:r>
            <a:endParaRPr lang="en-US" sz="3600" dirty="0"/>
          </a:p>
        </p:txBody>
      </p:sp>
      <p:sp>
        <p:nvSpPr>
          <p:cNvPr id="4" name="Tuile stretch"/>
          <p:cNvSpPr/>
          <p:nvPr/>
        </p:nvSpPr>
        <p:spPr>
          <a:xfrm>
            <a:off x="548640" y="1691640"/>
            <a:ext cx="1998878" cy="3355848"/>
          </a:xfrm>
          <a:prstGeom prst="roundRect">
            <a:avLst>
              <a:gd name="adj" fmla="val 366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Conteneur flex"/>
          <p:cNvSpPr/>
          <p:nvPr/>
        </p:nvSpPr>
        <p:spPr>
          <a:xfrm>
            <a:off x="731520" y="1874520"/>
            <a:ext cx="1633118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6" name="Élément 1"/>
          <p:cNvSpPr txBox="1"/>
          <p:nvPr/>
        </p:nvSpPr>
        <p:spPr>
          <a:xfrm>
            <a:off x="822960" y="1965960"/>
            <a:ext cx="384048" cy="1645920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Élément 2"/>
          <p:cNvSpPr txBox="1"/>
          <p:nvPr/>
        </p:nvSpPr>
        <p:spPr>
          <a:xfrm>
            <a:off x="1280160" y="1965960"/>
            <a:ext cx="384048" cy="1645920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Élément 3"/>
          <p:cNvSpPr txBox="1"/>
          <p:nvPr/>
        </p:nvSpPr>
        <p:spPr>
          <a:xfrm>
            <a:off x="1737360" y="1965960"/>
            <a:ext cx="384048" cy="1645920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Propriété"/>
          <p:cNvSpPr txBox="1"/>
          <p:nvPr/>
        </p:nvSpPr>
        <p:spPr>
          <a:xfrm>
            <a:off x="731520" y="3831336"/>
            <a:ext cx="1633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stretch</a:t>
            </a:r>
            <a:endParaRPr lang="en-US" sz="1300" dirty="0"/>
          </a:p>
        </p:txBody>
      </p:sp>
      <p:sp>
        <p:nvSpPr>
          <p:cNvPr id="10" name="Explication"/>
          <p:cNvSpPr txBox="1"/>
          <p:nvPr/>
        </p:nvSpPr>
        <p:spPr>
          <a:xfrm>
            <a:off x="731520" y="4142232"/>
            <a:ext cx="163311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Par défaut. Les enfants s'étirent sur toute la hauteur.</a:t>
            </a:r>
            <a:endParaRPr lang="en-US" sz="1200" dirty="0"/>
          </a:p>
        </p:txBody>
      </p:sp>
      <p:sp>
        <p:nvSpPr>
          <p:cNvPr id="11" name="Tuile flex-start"/>
          <p:cNvSpPr/>
          <p:nvPr/>
        </p:nvSpPr>
        <p:spPr>
          <a:xfrm>
            <a:off x="2821838" y="1691640"/>
            <a:ext cx="1998878" cy="3355848"/>
          </a:xfrm>
          <a:prstGeom prst="roundRect">
            <a:avLst>
              <a:gd name="adj" fmla="val 366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Conteneur flex"/>
          <p:cNvSpPr/>
          <p:nvPr/>
        </p:nvSpPr>
        <p:spPr>
          <a:xfrm>
            <a:off x="3004718" y="1874520"/>
            <a:ext cx="1633118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3" name="Élément 1"/>
          <p:cNvSpPr txBox="1"/>
          <p:nvPr/>
        </p:nvSpPr>
        <p:spPr>
          <a:xfrm>
            <a:off x="3096158" y="1965960"/>
            <a:ext cx="384048" cy="347472"/>
          </a:xfrm>
          <a:prstGeom prst="roundRect">
            <a:avLst>
              <a:gd name="adj" fmla="val 1315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Élément 2"/>
          <p:cNvSpPr txBox="1"/>
          <p:nvPr/>
        </p:nvSpPr>
        <p:spPr>
          <a:xfrm>
            <a:off x="3553358" y="1965960"/>
            <a:ext cx="384048" cy="685800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Élément 3"/>
          <p:cNvSpPr txBox="1"/>
          <p:nvPr/>
        </p:nvSpPr>
        <p:spPr>
          <a:xfrm>
            <a:off x="4010558" y="1965960"/>
            <a:ext cx="384048" cy="960120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Propriété"/>
          <p:cNvSpPr txBox="1"/>
          <p:nvPr/>
        </p:nvSpPr>
        <p:spPr>
          <a:xfrm>
            <a:off x="3004718" y="3831336"/>
            <a:ext cx="1633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</a:t>
            </a:r>
            <a:endParaRPr lang="en-US" sz="1300" dirty="0"/>
          </a:p>
        </p:txBody>
      </p:sp>
      <p:sp>
        <p:nvSpPr>
          <p:cNvPr id="17" name="Explication"/>
          <p:cNvSpPr txBox="1"/>
          <p:nvPr/>
        </p:nvSpPr>
        <p:spPr>
          <a:xfrm>
            <a:off x="3004718" y="4142232"/>
            <a:ext cx="163311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Alignés en haut.</a:t>
            </a:r>
            <a:endParaRPr lang="en-US" sz="1200" dirty="0"/>
          </a:p>
        </p:txBody>
      </p:sp>
      <p:sp>
        <p:nvSpPr>
          <p:cNvPr id="18" name="Tuile center"/>
          <p:cNvSpPr/>
          <p:nvPr/>
        </p:nvSpPr>
        <p:spPr>
          <a:xfrm>
            <a:off x="5095037" y="1691640"/>
            <a:ext cx="1998878" cy="3355848"/>
          </a:xfrm>
          <a:prstGeom prst="roundRect">
            <a:avLst>
              <a:gd name="adj" fmla="val 366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Conteneur flex"/>
          <p:cNvSpPr/>
          <p:nvPr/>
        </p:nvSpPr>
        <p:spPr>
          <a:xfrm>
            <a:off x="5277917" y="1874520"/>
            <a:ext cx="1633118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0" name="Élément 1"/>
          <p:cNvSpPr txBox="1"/>
          <p:nvPr/>
        </p:nvSpPr>
        <p:spPr>
          <a:xfrm>
            <a:off x="5369357" y="2615184"/>
            <a:ext cx="384048" cy="347472"/>
          </a:xfrm>
          <a:prstGeom prst="roundRect">
            <a:avLst>
              <a:gd name="adj" fmla="val 1315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Élément 2"/>
          <p:cNvSpPr txBox="1"/>
          <p:nvPr/>
        </p:nvSpPr>
        <p:spPr>
          <a:xfrm>
            <a:off x="5826557" y="2446020"/>
            <a:ext cx="384048" cy="685800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Élément 3"/>
          <p:cNvSpPr txBox="1"/>
          <p:nvPr/>
        </p:nvSpPr>
        <p:spPr>
          <a:xfrm>
            <a:off x="6283757" y="2308860"/>
            <a:ext cx="384048" cy="960120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Propriété"/>
          <p:cNvSpPr txBox="1"/>
          <p:nvPr/>
        </p:nvSpPr>
        <p:spPr>
          <a:xfrm>
            <a:off x="5277917" y="3831336"/>
            <a:ext cx="1633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endParaRPr lang="en-US" sz="1300" dirty="0"/>
          </a:p>
        </p:txBody>
      </p:sp>
      <p:sp>
        <p:nvSpPr>
          <p:cNvPr id="24" name="Explication"/>
          <p:cNvSpPr txBox="1"/>
          <p:nvPr/>
        </p:nvSpPr>
        <p:spPr>
          <a:xfrm>
            <a:off x="5277917" y="4142232"/>
            <a:ext cx="163311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Centrés verticalement.</a:t>
            </a:r>
            <a:endParaRPr lang="en-US" sz="1200" dirty="0"/>
          </a:p>
        </p:txBody>
      </p:sp>
      <p:sp>
        <p:nvSpPr>
          <p:cNvPr id="25" name="Tuile flex-end"/>
          <p:cNvSpPr/>
          <p:nvPr/>
        </p:nvSpPr>
        <p:spPr>
          <a:xfrm>
            <a:off x="7368235" y="1691640"/>
            <a:ext cx="1998878" cy="3355848"/>
          </a:xfrm>
          <a:prstGeom prst="roundRect">
            <a:avLst>
              <a:gd name="adj" fmla="val 366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Conteneur flex"/>
          <p:cNvSpPr/>
          <p:nvPr/>
        </p:nvSpPr>
        <p:spPr>
          <a:xfrm>
            <a:off x="7551115" y="1874520"/>
            <a:ext cx="1633118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7" name="Élément 1"/>
          <p:cNvSpPr txBox="1"/>
          <p:nvPr/>
        </p:nvSpPr>
        <p:spPr>
          <a:xfrm>
            <a:off x="7642555" y="3264408"/>
            <a:ext cx="384048" cy="347472"/>
          </a:xfrm>
          <a:prstGeom prst="roundRect">
            <a:avLst>
              <a:gd name="adj" fmla="val 1315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Élément 2"/>
          <p:cNvSpPr txBox="1"/>
          <p:nvPr/>
        </p:nvSpPr>
        <p:spPr>
          <a:xfrm>
            <a:off x="8099755" y="2926080"/>
            <a:ext cx="384048" cy="685800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Élément 3"/>
          <p:cNvSpPr txBox="1"/>
          <p:nvPr/>
        </p:nvSpPr>
        <p:spPr>
          <a:xfrm>
            <a:off x="8556955" y="2651760"/>
            <a:ext cx="384048" cy="960120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Propriété"/>
          <p:cNvSpPr txBox="1"/>
          <p:nvPr/>
        </p:nvSpPr>
        <p:spPr>
          <a:xfrm>
            <a:off x="7551115" y="3831336"/>
            <a:ext cx="1633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flex-end</a:t>
            </a:r>
            <a:endParaRPr lang="en-US" sz="1300" dirty="0"/>
          </a:p>
        </p:txBody>
      </p:sp>
      <p:sp>
        <p:nvSpPr>
          <p:cNvPr id="31" name="Explication"/>
          <p:cNvSpPr txBox="1"/>
          <p:nvPr/>
        </p:nvSpPr>
        <p:spPr>
          <a:xfrm>
            <a:off x="7551115" y="4142232"/>
            <a:ext cx="163311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Alignés en bas.</a:t>
            </a:r>
            <a:endParaRPr lang="en-US" sz="1200" dirty="0"/>
          </a:p>
        </p:txBody>
      </p:sp>
      <p:sp>
        <p:nvSpPr>
          <p:cNvPr id="32" name="Tuile baseline"/>
          <p:cNvSpPr/>
          <p:nvPr/>
        </p:nvSpPr>
        <p:spPr>
          <a:xfrm>
            <a:off x="9641434" y="1691640"/>
            <a:ext cx="1998878" cy="3355848"/>
          </a:xfrm>
          <a:prstGeom prst="roundRect">
            <a:avLst>
              <a:gd name="adj" fmla="val 366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3" name="Conteneur flex"/>
          <p:cNvSpPr/>
          <p:nvPr/>
        </p:nvSpPr>
        <p:spPr>
          <a:xfrm>
            <a:off x="9824314" y="1874520"/>
            <a:ext cx="1633118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4" name="Élément ab"/>
          <p:cNvSpPr txBox="1"/>
          <p:nvPr/>
        </p:nvSpPr>
        <p:spPr>
          <a:xfrm>
            <a:off x="9915754" y="2176272"/>
            <a:ext cx="38404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endParaRPr lang="en-US" sz="1200" dirty="0"/>
          </a:p>
        </p:txBody>
      </p:sp>
      <p:sp>
        <p:nvSpPr>
          <p:cNvPr id="35" name="Élément Ab"/>
          <p:cNvSpPr txBox="1"/>
          <p:nvPr/>
        </p:nvSpPr>
        <p:spPr>
          <a:xfrm>
            <a:off x="10372954" y="1965960"/>
            <a:ext cx="548640" cy="68580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endParaRPr lang="en-US" sz="2400" dirty="0"/>
          </a:p>
        </p:txBody>
      </p:sp>
      <p:sp>
        <p:nvSpPr>
          <p:cNvPr id="36" name="Élément ab"/>
          <p:cNvSpPr txBox="1"/>
          <p:nvPr/>
        </p:nvSpPr>
        <p:spPr>
          <a:xfrm>
            <a:off x="10994746" y="2176272"/>
            <a:ext cx="38404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endParaRPr lang="en-US" sz="1200" dirty="0"/>
          </a:p>
        </p:txBody>
      </p:sp>
      <p:sp>
        <p:nvSpPr>
          <p:cNvPr id="37" name="Propriété"/>
          <p:cNvSpPr txBox="1"/>
          <p:nvPr/>
        </p:nvSpPr>
        <p:spPr>
          <a:xfrm>
            <a:off x="9824314" y="3831336"/>
            <a:ext cx="1633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300" dirty="0"/>
          </a:p>
        </p:txBody>
      </p:sp>
      <p:sp>
        <p:nvSpPr>
          <p:cNvPr id="38" name="Explication"/>
          <p:cNvSpPr txBox="1"/>
          <p:nvPr/>
        </p:nvSpPr>
        <p:spPr>
          <a:xfrm>
            <a:off x="9824314" y="4142232"/>
            <a:ext cx="163311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Alignés sur la ligne de base du texte.</a:t>
            </a:r>
            <a:endParaRPr lang="en-US" sz="1200" dirty="0"/>
          </a:p>
        </p:txBody>
      </p:sp>
      <p:sp>
        <p:nvSpPr>
          <p:cNvPr id="39" name="À retenir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0" name="À retenir (texte)"/>
          <p:cNvSpPr txBox="1"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stretch</a:t>
            </a:r>
            <a:r>
              <a:rPr lang="en-US" sz="1500" dirty="0">
                <a:solidFill>
                  <a:schemeClr val="tx1"/>
                </a:solidFill>
              </a:rPr>
              <a:t> ne fonctionne que si l'enfant n'a pas de hauteur fixe. Pour aligner un seul enfant autrement :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align-self</a:t>
            </a:r>
            <a:r>
              <a:rPr lang="en-US" sz="1500" dirty="0">
                <a:solidFill>
                  <a:schemeClr val="tx1"/>
                </a:solidFill>
              </a:rPr>
              <a:t> (partie 4).</a:t>
            </a:r>
            <a:endParaRPr lang="en-US" sz="15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3 · PROPRIÉTÉS DU PARENT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flex-wrap et gap : aller à la ligne, espacer</a:t>
            </a:r>
            <a:endParaRPr lang="en-US" sz="3600" dirty="0"/>
          </a:p>
        </p:txBody>
      </p:sp>
      <p:sp>
        <p:nvSpPr>
          <p:cNvPr id="4" name="Tuile flex-wrap: nowrap"/>
          <p:cNvSpPr/>
          <p:nvPr/>
        </p:nvSpPr>
        <p:spPr>
          <a:xfrm>
            <a:off x="548640" y="1691640"/>
            <a:ext cx="5408676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Conteneur flex"/>
          <p:cNvSpPr/>
          <p:nvPr/>
        </p:nvSpPr>
        <p:spPr>
          <a:xfrm>
            <a:off x="731520" y="1874520"/>
            <a:ext cx="31089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6" name="Élément 1"/>
          <p:cNvSpPr txBox="1"/>
          <p:nvPr/>
        </p:nvSpPr>
        <p:spPr>
          <a:xfrm>
            <a:off x="822960" y="1965960"/>
            <a:ext cx="731520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Élément 2"/>
          <p:cNvSpPr txBox="1"/>
          <p:nvPr/>
        </p:nvSpPr>
        <p:spPr>
          <a:xfrm>
            <a:off x="1627632" y="1965960"/>
            <a:ext cx="731520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Élément 3"/>
          <p:cNvSpPr txBox="1"/>
          <p:nvPr/>
        </p:nvSpPr>
        <p:spPr>
          <a:xfrm>
            <a:off x="2432304" y="1965960"/>
            <a:ext cx="731520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Élément 4"/>
          <p:cNvSpPr txBox="1"/>
          <p:nvPr/>
        </p:nvSpPr>
        <p:spPr>
          <a:xfrm>
            <a:off x="3236976" y="1965960"/>
            <a:ext cx="731520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Élément 5"/>
          <p:cNvSpPr txBox="1"/>
          <p:nvPr/>
        </p:nvSpPr>
        <p:spPr>
          <a:xfrm>
            <a:off x="4041648" y="1965960"/>
            <a:ext cx="731520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Propriété"/>
          <p:cNvSpPr txBox="1"/>
          <p:nvPr/>
        </p:nvSpPr>
        <p:spPr>
          <a:xfrm>
            <a:off x="731520" y="3008376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flex-wrap: nowrap</a:t>
            </a:r>
            <a:endParaRPr lang="en-US" sz="1300" dirty="0"/>
          </a:p>
        </p:txBody>
      </p:sp>
      <p:sp>
        <p:nvSpPr>
          <p:cNvPr id="12" name="Explication"/>
          <p:cNvSpPr txBox="1"/>
          <p:nvPr/>
        </p:nvSpPr>
        <p:spPr>
          <a:xfrm>
            <a:off x="731520" y="3319272"/>
            <a:ext cx="50429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Par défaut. Tout reste sur une ligne, quitte à déborder du parent.</a:t>
            </a:r>
            <a:endParaRPr lang="en-US" sz="1200" dirty="0"/>
          </a:p>
        </p:txBody>
      </p:sp>
      <p:sp>
        <p:nvSpPr>
          <p:cNvPr id="13" name="Tuile flex-wrap: wrap"/>
          <p:cNvSpPr/>
          <p:nvPr/>
        </p:nvSpPr>
        <p:spPr>
          <a:xfrm>
            <a:off x="6231636" y="1691640"/>
            <a:ext cx="5408676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Conteneur flex"/>
          <p:cNvSpPr/>
          <p:nvPr/>
        </p:nvSpPr>
        <p:spPr>
          <a:xfrm>
            <a:off x="6414516" y="1874520"/>
            <a:ext cx="31089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5" name="Élément 1"/>
          <p:cNvSpPr txBox="1"/>
          <p:nvPr/>
        </p:nvSpPr>
        <p:spPr>
          <a:xfrm>
            <a:off x="6505956" y="1965960"/>
            <a:ext cx="731520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Élément 2"/>
          <p:cNvSpPr txBox="1"/>
          <p:nvPr/>
        </p:nvSpPr>
        <p:spPr>
          <a:xfrm>
            <a:off x="7310628" y="1965960"/>
            <a:ext cx="731520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Élément 3"/>
          <p:cNvSpPr txBox="1"/>
          <p:nvPr/>
        </p:nvSpPr>
        <p:spPr>
          <a:xfrm>
            <a:off x="8115300" y="1965960"/>
            <a:ext cx="731520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Élément 4"/>
          <p:cNvSpPr txBox="1"/>
          <p:nvPr/>
        </p:nvSpPr>
        <p:spPr>
          <a:xfrm>
            <a:off x="6505956" y="2404872"/>
            <a:ext cx="731520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Élément 5"/>
          <p:cNvSpPr txBox="1"/>
          <p:nvPr/>
        </p:nvSpPr>
        <p:spPr>
          <a:xfrm>
            <a:off x="7310628" y="2404872"/>
            <a:ext cx="731520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Propriété"/>
          <p:cNvSpPr txBox="1"/>
          <p:nvPr/>
        </p:nvSpPr>
        <p:spPr>
          <a:xfrm>
            <a:off x="6414516" y="3008376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flex-wrap: wrap</a:t>
            </a:r>
            <a:endParaRPr lang="en-US" sz="1300" dirty="0"/>
          </a:p>
        </p:txBody>
      </p:sp>
      <p:sp>
        <p:nvSpPr>
          <p:cNvPr id="21" name="Explication"/>
          <p:cNvSpPr txBox="1"/>
          <p:nvPr/>
        </p:nvSpPr>
        <p:spPr>
          <a:xfrm>
            <a:off x="6414516" y="3319272"/>
            <a:ext cx="50429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Les éléments passent à la ligne quand la place manque.</a:t>
            </a:r>
            <a:endParaRPr lang="en-US" sz="1200" dirty="0"/>
          </a:p>
        </p:txBody>
      </p:sp>
      <p:sp>
        <p:nvSpPr>
          <p:cNvPr id="22" name="Tuile gap: 0"/>
          <p:cNvSpPr/>
          <p:nvPr/>
        </p:nvSpPr>
        <p:spPr>
          <a:xfrm>
            <a:off x="548640" y="4114800"/>
            <a:ext cx="5408676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Conteneur flex"/>
          <p:cNvSpPr/>
          <p:nvPr/>
        </p:nvSpPr>
        <p:spPr>
          <a:xfrm>
            <a:off x="731520" y="4297680"/>
            <a:ext cx="31089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4" name="Élément 1"/>
          <p:cNvSpPr txBox="1"/>
          <p:nvPr/>
        </p:nvSpPr>
        <p:spPr>
          <a:xfrm>
            <a:off x="822960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Élément 2"/>
          <p:cNvSpPr txBox="1"/>
          <p:nvPr/>
        </p:nvSpPr>
        <p:spPr>
          <a:xfrm>
            <a:off x="1280160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Élément 3"/>
          <p:cNvSpPr txBox="1"/>
          <p:nvPr/>
        </p:nvSpPr>
        <p:spPr>
          <a:xfrm>
            <a:off x="1737360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Propriété"/>
          <p:cNvSpPr txBox="1"/>
          <p:nvPr/>
        </p:nvSpPr>
        <p:spPr>
          <a:xfrm>
            <a:off x="731520" y="5431536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0</a:t>
            </a:r>
            <a:endParaRPr lang="en-US" sz="1300" dirty="0"/>
          </a:p>
        </p:txBody>
      </p:sp>
      <p:sp>
        <p:nvSpPr>
          <p:cNvPr id="28" name="Explication"/>
          <p:cNvSpPr txBox="1"/>
          <p:nvPr/>
        </p:nvSpPr>
        <p:spPr>
          <a:xfrm>
            <a:off x="731520" y="5742432"/>
            <a:ext cx="50429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Éléments collés les uns aux autres.</a:t>
            </a:r>
            <a:endParaRPr lang="en-US" sz="1200" dirty="0"/>
          </a:p>
        </p:txBody>
      </p:sp>
      <p:sp>
        <p:nvSpPr>
          <p:cNvPr id="29" name="Tuile gap: 24px"/>
          <p:cNvSpPr/>
          <p:nvPr/>
        </p:nvSpPr>
        <p:spPr>
          <a:xfrm>
            <a:off x="6231636" y="4114800"/>
            <a:ext cx="5408676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0" name="Conteneur flex"/>
          <p:cNvSpPr/>
          <p:nvPr/>
        </p:nvSpPr>
        <p:spPr>
          <a:xfrm>
            <a:off x="6414516" y="4297680"/>
            <a:ext cx="31089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1" name="Élément 1"/>
          <p:cNvSpPr txBox="1"/>
          <p:nvPr/>
        </p:nvSpPr>
        <p:spPr>
          <a:xfrm>
            <a:off x="6505956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Élément 2"/>
          <p:cNvSpPr txBox="1"/>
          <p:nvPr/>
        </p:nvSpPr>
        <p:spPr>
          <a:xfrm>
            <a:off x="7237476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Élément 3"/>
          <p:cNvSpPr txBox="1"/>
          <p:nvPr/>
        </p:nvSpPr>
        <p:spPr>
          <a:xfrm>
            <a:off x="7968996" y="438912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Propriété"/>
          <p:cNvSpPr txBox="1"/>
          <p:nvPr/>
        </p:nvSpPr>
        <p:spPr>
          <a:xfrm>
            <a:off x="6414516" y="5431536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24px</a:t>
            </a:r>
            <a:endParaRPr lang="en-US" sz="1300" dirty="0"/>
          </a:p>
        </p:txBody>
      </p:sp>
      <p:sp>
        <p:nvSpPr>
          <p:cNvPr id="35" name="Explication"/>
          <p:cNvSpPr txBox="1"/>
          <p:nvPr/>
        </p:nvSpPr>
        <p:spPr>
          <a:xfrm>
            <a:off x="6414516" y="5742432"/>
            <a:ext cx="50429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Espace entre les éléments seulement, jamais aux bords. Remplace les marges.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4 · PROPRIÉTÉS DES ENFANTS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flex : grandir ou garder une largeur fixe</a:t>
            </a:r>
            <a:endParaRPr lang="en-US" sz="3600" dirty="0"/>
          </a:p>
        </p:txBody>
      </p:sp>
      <p:sp>
        <p:nvSpPr>
          <p:cNvPr id="4" name="Légende"/>
          <p:cNvSpPr/>
          <p:nvPr/>
        </p:nvSpPr>
        <p:spPr>
          <a:xfrm>
            <a:off x="8732520" y="384048"/>
            <a:ext cx="256032" cy="21945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0848" y="34747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= l'enfant qui porte la propriété</a:t>
            </a:r>
            <a:endParaRPr lang="en-US" sz="1200" dirty="0"/>
          </a:p>
        </p:txBody>
      </p:sp>
      <p:sp>
        <p:nvSpPr>
          <p:cNvPr id="6" name="Tuile flex: 1"/>
          <p:cNvSpPr/>
          <p:nvPr/>
        </p:nvSpPr>
        <p:spPr>
          <a:xfrm>
            <a:off x="548640" y="169164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Conteneur flex"/>
          <p:cNvSpPr/>
          <p:nvPr/>
        </p:nvSpPr>
        <p:spPr>
          <a:xfrm>
            <a:off x="731520" y="1874520"/>
            <a:ext cx="3148584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8" name="Élément 1"/>
          <p:cNvSpPr txBox="1"/>
          <p:nvPr/>
        </p:nvSpPr>
        <p:spPr>
          <a:xfrm>
            <a:off x="822960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Élément 2"/>
          <p:cNvSpPr txBox="1"/>
          <p:nvPr/>
        </p:nvSpPr>
        <p:spPr>
          <a:xfrm>
            <a:off x="1353312" y="1965960"/>
            <a:ext cx="190500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Élément 3"/>
          <p:cNvSpPr txBox="1"/>
          <p:nvPr/>
        </p:nvSpPr>
        <p:spPr>
          <a:xfrm>
            <a:off x="3331464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Propriété"/>
          <p:cNvSpPr txBox="1"/>
          <p:nvPr/>
        </p:nvSpPr>
        <p:spPr>
          <a:xfrm>
            <a:off x="731520" y="268833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flex: 1</a:t>
            </a:r>
            <a:endParaRPr lang="en-US" sz="1300" dirty="0"/>
          </a:p>
        </p:txBody>
      </p:sp>
      <p:sp>
        <p:nvSpPr>
          <p:cNvPr id="12" name="Explication"/>
          <p:cNvSpPr txBox="1"/>
          <p:nvPr/>
        </p:nvSpPr>
        <p:spPr>
          <a:xfrm>
            <a:off x="731520" y="2999232"/>
            <a:ext cx="3148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L'élément prend toute la place restante.</a:t>
            </a:r>
            <a:endParaRPr lang="en-US" sz="1200" dirty="0"/>
          </a:p>
        </p:txBody>
      </p:sp>
      <p:sp>
        <p:nvSpPr>
          <p:cNvPr id="13" name="Tuile flex: 1 / 2 / 1"/>
          <p:cNvSpPr/>
          <p:nvPr/>
        </p:nvSpPr>
        <p:spPr>
          <a:xfrm>
            <a:off x="4337304" y="169164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Conteneur flex"/>
          <p:cNvSpPr/>
          <p:nvPr/>
        </p:nvSpPr>
        <p:spPr>
          <a:xfrm>
            <a:off x="4520184" y="1874520"/>
            <a:ext cx="3148584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5" name="Élément 1"/>
          <p:cNvSpPr txBox="1"/>
          <p:nvPr/>
        </p:nvSpPr>
        <p:spPr>
          <a:xfrm>
            <a:off x="4611624" y="1965960"/>
            <a:ext cx="70485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Élément 2"/>
          <p:cNvSpPr txBox="1"/>
          <p:nvPr/>
        </p:nvSpPr>
        <p:spPr>
          <a:xfrm>
            <a:off x="5389626" y="1965960"/>
            <a:ext cx="140970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Élément 3"/>
          <p:cNvSpPr txBox="1"/>
          <p:nvPr/>
        </p:nvSpPr>
        <p:spPr>
          <a:xfrm>
            <a:off x="6872478" y="1965960"/>
            <a:ext cx="70485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Propriété"/>
          <p:cNvSpPr txBox="1"/>
          <p:nvPr/>
        </p:nvSpPr>
        <p:spPr>
          <a:xfrm>
            <a:off x="4520184" y="268833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flex: 1 / 2 / 1</a:t>
            </a:r>
            <a:endParaRPr lang="en-US" sz="1300" dirty="0"/>
          </a:p>
        </p:txBody>
      </p:sp>
      <p:sp>
        <p:nvSpPr>
          <p:cNvPr id="19" name="Explication"/>
          <p:cNvSpPr txBox="1"/>
          <p:nvPr/>
        </p:nvSpPr>
        <p:spPr>
          <a:xfrm>
            <a:off x="4520184" y="2999232"/>
            <a:ext cx="3148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La place est partagée en parts : le 2 en reçoit deux fois plus.</a:t>
            </a:r>
            <a:endParaRPr lang="en-US" sz="1200" dirty="0"/>
          </a:p>
        </p:txBody>
      </p:sp>
      <p:sp>
        <p:nvSpPr>
          <p:cNvPr id="20" name="Tuile flex: 0 0 110px"/>
          <p:cNvSpPr/>
          <p:nvPr/>
        </p:nvSpPr>
        <p:spPr>
          <a:xfrm>
            <a:off x="8125968" y="169164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Conteneur flex"/>
          <p:cNvSpPr/>
          <p:nvPr/>
        </p:nvSpPr>
        <p:spPr>
          <a:xfrm>
            <a:off x="8308848" y="1874520"/>
            <a:ext cx="3148584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2" name="Élément 110px"/>
          <p:cNvSpPr txBox="1"/>
          <p:nvPr/>
        </p:nvSpPr>
        <p:spPr>
          <a:xfrm>
            <a:off x="8400288" y="1965960"/>
            <a:ext cx="105156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110px</a:t>
            </a:r>
            <a:endParaRPr lang="en-US" sz="1200" dirty="0"/>
          </a:p>
        </p:txBody>
      </p:sp>
      <p:sp>
        <p:nvSpPr>
          <p:cNvPr id="23" name="Élément reste"/>
          <p:cNvSpPr txBox="1"/>
          <p:nvPr/>
        </p:nvSpPr>
        <p:spPr>
          <a:xfrm>
            <a:off x="9525000" y="1965960"/>
            <a:ext cx="1840992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reste</a:t>
            </a:r>
            <a:endParaRPr lang="en-US" sz="1200" dirty="0"/>
          </a:p>
        </p:txBody>
      </p:sp>
      <p:sp>
        <p:nvSpPr>
          <p:cNvPr id="24" name="Propriété"/>
          <p:cNvSpPr txBox="1"/>
          <p:nvPr/>
        </p:nvSpPr>
        <p:spPr>
          <a:xfrm>
            <a:off x="8308848" y="268833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flex: 0 0 110px</a:t>
            </a:r>
            <a:endParaRPr lang="en-US" sz="1300" dirty="0"/>
          </a:p>
        </p:txBody>
      </p:sp>
      <p:sp>
        <p:nvSpPr>
          <p:cNvPr id="25" name="Explication"/>
          <p:cNvSpPr txBox="1"/>
          <p:nvPr/>
        </p:nvSpPr>
        <p:spPr>
          <a:xfrm>
            <a:off x="8308848" y="2999232"/>
            <a:ext cx="3148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Largeur fixe : ne grandit pas, ne rétrécit pas. Idéal pour une image à côté d'un texte.</a:t>
            </a:r>
            <a:endParaRPr lang="en-US" sz="1200" dirty="0"/>
          </a:p>
        </p:txBody>
      </p:sp>
      <p:graphicFrame>
        <p:nvGraphicFramePr>
          <p:cNvPr id="26" name="Raccourcis fle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91672" cy="2011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Raccourci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Équivaut à  (grow · shrink · basis)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Usage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flex: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1 1 0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Colonnes égales, élément qui remplit l'espace restant.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flex: auto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1 auto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Grandit à partir de la taille de son contenu.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flex: none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auto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Garde sa taille naturelle, quoi qu'il arrive.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flex: 0 0 200px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0 200px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Largeur fixe de 200px dans une ligne flex.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4 · PROPRIÉTÉS DES ENFANTS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Se placer : margin auto, align-self, order</a:t>
            </a:r>
            <a:endParaRPr lang="en-US" sz="3600" dirty="0"/>
          </a:p>
        </p:txBody>
      </p:sp>
      <p:sp>
        <p:nvSpPr>
          <p:cNvPr id="4" name="Légende"/>
          <p:cNvSpPr/>
          <p:nvPr/>
        </p:nvSpPr>
        <p:spPr>
          <a:xfrm>
            <a:off x="8732520" y="384048"/>
            <a:ext cx="256032" cy="21945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0848" y="34747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= l'enfant qui porte la propriété</a:t>
            </a:r>
            <a:endParaRPr lang="en-US" sz="1200" dirty="0"/>
          </a:p>
        </p:txBody>
      </p:sp>
      <p:sp>
        <p:nvSpPr>
          <p:cNvPr id="6" name="Tuile margin-left: auto"/>
          <p:cNvSpPr/>
          <p:nvPr/>
        </p:nvSpPr>
        <p:spPr>
          <a:xfrm>
            <a:off x="548640" y="1691640"/>
            <a:ext cx="3514344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Conteneur flex"/>
          <p:cNvSpPr/>
          <p:nvPr/>
        </p:nvSpPr>
        <p:spPr>
          <a:xfrm>
            <a:off x="731520" y="1874520"/>
            <a:ext cx="3148584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8" name="Élément logo"/>
          <p:cNvSpPr txBox="1"/>
          <p:nvPr/>
        </p:nvSpPr>
        <p:spPr>
          <a:xfrm>
            <a:off x="822960" y="1965960"/>
            <a:ext cx="73152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200" dirty="0"/>
          </a:p>
        </p:txBody>
      </p:sp>
      <p:sp>
        <p:nvSpPr>
          <p:cNvPr id="9" name="Élément menu"/>
          <p:cNvSpPr txBox="1"/>
          <p:nvPr/>
        </p:nvSpPr>
        <p:spPr>
          <a:xfrm>
            <a:off x="3057144" y="1965960"/>
            <a:ext cx="7315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</a:t>
            </a:r>
            <a:endParaRPr lang="en-US" sz="1200" dirty="0"/>
          </a:p>
        </p:txBody>
      </p:sp>
      <p:sp>
        <p:nvSpPr>
          <p:cNvPr id="10" name="Propriété"/>
          <p:cNvSpPr txBox="1"/>
          <p:nvPr/>
        </p:nvSpPr>
        <p:spPr>
          <a:xfrm>
            <a:off x="731520" y="346557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margin-left: auto</a:t>
            </a:r>
            <a:endParaRPr lang="en-US" sz="1300" dirty="0"/>
          </a:p>
        </p:txBody>
      </p:sp>
      <p:sp>
        <p:nvSpPr>
          <p:cNvPr id="11" name="Explication"/>
          <p:cNvSpPr txBox="1"/>
          <p:nvPr/>
        </p:nvSpPr>
        <p:spPr>
          <a:xfrm>
            <a:off x="731520" y="3776472"/>
            <a:ext cx="3148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Pousse l'élément, et ceux qui le suivent, tout à droite.</a:t>
            </a:r>
            <a:endParaRPr lang="en-US" sz="1200" dirty="0"/>
          </a:p>
        </p:txBody>
      </p:sp>
      <p:sp>
        <p:nvSpPr>
          <p:cNvPr id="12" name="Tuile align-self: flex-end"/>
          <p:cNvSpPr/>
          <p:nvPr/>
        </p:nvSpPr>
        <p:spPr>
          <a:xfrm>
            <a:off x="4337304" y="1691640"/>
            <a:ext cx="3514344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Conteneur flex"/>
          <p:cNvSpPr/>
          <p:nvPr/>
        </p:nvSpPr>
        <p:spPr>
          <a:xfrm>
            <a:off x="4520184" y="1874520"/>
            <a:ext cx="3148584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4" name="Élément 1"/>
          <p:cNvSpPr txBox="1"/>
          <p:nvPr/>
        </p:nvSpPr>
        <p:spPr>
          <a:xfrm>
            <a:off x="4611624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Élément 2"/>
          <p:cNvSpPr txBox="1"/>
          <p:nvPr/>
        </p:nvSpPr>
        <p:spPr>
          <a:xfrm>
            <a:off x="5141976" y="2862072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Élément 3"/>
          <p:cNvSpPr txBox="1"/>
          <p:nvPr/>
        </p:nvSpPr>
        <p:spPr>
          <a:xfrm>
            <a:off x="5672328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Propriété"/>
          <p:cNvSpPr txBox="1"/>
          <p:nvPr/>
        </p:nvSpPr>
        <p:spPr>
          <a:xfrm>
            <a:off x="4520184" y="346557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align-self: flex-end</a:t>
            </a:r>
            <a:endParaRPr lang="en-US" sz="1300" dirty="0"/>
          </a:p>
        </p:txBody>
      </p:sp>
      <p:sp>
        <p:nvSpPr>
          <p:cNvPr id="18" name="Explication"/>
          <p:cNvSpPr txBox="1"/>
          <p:nvPr/>
        </p:nvSpPr>
        <p:spPr>
          <a:xfrm>
            <a:off x="4520184" y="3776472"/>
            <a:ext cx="3148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Un seul enfant ignore l'align-items du parent.</a:t>
            </a:r>
            <a:endParaRPr lang="en-US" sz="1200" dirty="0"/>
          </a:p>
        </p:txBody>
      </p:sp>
      <p:sp>
        <p:nvSpPr>
          <p:cNvPr id="19" name="Tuile order: -1"/>
          <p:cNvSpPr/>
          <p:nvPr/>
        </p:nvSpPr>
        <p:spPr>
          <a:xfrm>
            <a:off x="8125968" y="1691640"/>
            <a:ext cx="3514344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Conteneur flex"/>
          <p:cNvSpPr/>
          <p:nvPr/>
        </p:nvSpPr>
        <p:spPr>
          <a:xfrm>
            <a:off x="8308848" y="1874520"/>
            <a:ext cx="3148584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1" name="Élément 2"/>
          <p:cNvSpPr txBox="1"/>
          <p:nvPr/>
        </p:nvSpPr>
        <p:spPr>
          <a:xfrm>
            <a:off x="8400288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Élément 1"/>
          <p:cNvSpPr txBox="1"/>
          <p:nvPr/>
        </p:nvSpPr>
        <p:spPr>
          <a:xfrm>
            <a:off x="8930640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Élément 3"/>
          <p:cNvSpPr txBox="1"/>
          <p:nvPr/>
        </p:nvSpPr>
        <p:spPr>
          <a:xfrm>
            <a:off x="9460992" y="1965960"/>
            <a:ext cx="45720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Propriété"/>
          <p:cNvSpPr txBox="1"/>
          <p:nvPr/>
        </p:nvSpPr>
        <p:spPr>
          <a:xfrm>
            <a:off x="8308848" y="3465576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order: -1</a:t>
            </a:r>
            <a:endParaRPr lang="en-US" sz="1300" dirty="0"/>
          </a:p>
        </p:txBody>
      </p:sp>
      <p:sp>
        <p:nvSpPr>
          <p:cNvPr id="25" name="Explication"/>
          <p:cNvSpPr txBox="1"/>
          <p:nvPr/>
        </p:nvSpPr>
        <p:spPr>
          <a:xfrm>
            <a:off x="8308848" y="3776472"/>
            <a:ext cx="3148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Change l'ordre d'affichage. Le 2 passe en premier.</a:t>
            </a:r>
            <a:endParaRPr lang="en-US" sz="1200" dirty="0"/>
          </a:p>
        </p:txBody>
      </p:sp>
      <p:sp>
        <p:nvSpPr>
          <p:cNvPr id="26" name="À retenir"/>
          <p:cNvSpPr/>
          <p:nvPr/>
        </p:nvSpPr>
        <p:spPr>
          <a:xfrm>
            <a:off x="548640" y="475488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À retenir (texte)"/>
          <p:cNvSpPr txBox="1"/>
          <p:nvPr/>
        </p:nvSpPr>
        <p:spPr>
          <a:xfrm>
            <a:off x="777240" y="47548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Accessibilité :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500" dirty="0">
                <a:solidFill>
                  <a:schemeClr val="tx1"/>
                </a:solidFill>
              </a:rPr>
              <a:t> et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row-reverse</a:t>
            </a:r>
            <a:r>
              <a:rPr lang="en-US" sz="1500" dirty="0">
                <a:solidFill>
                  <a:schemeClr val="tx1"/>
                </a:solidFill>
              </a:rPr>
              <a:t> ne changent que l'affichage. La touche Tab et les lecteurs d'écran suivent toujours l'ordre du HTML : écrivez le HTML dans l'ordre logique.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5 · RECETTES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Trois en-têtes vus dans nos maquettes</a:t>
            </a:r>
            <a:endParaRPr lang="en-US" sz="3600" dirty="0"/>
          </a:p>
        </p:txBody>
      </p:sp>
      <p:sp>
        <p:nvSpPr>
          <p:cNvPr id="4" name="Recette Logo à gauche, menu à droite"/>
          <p:cNvSpPr/>
          <p:nvPr/>
        </p:nvSpPr>
        <p:spPr>
          <a:xfrm>
            <a:off x="548640" y="1691640"/>
            <a:ext cx="3514344" cy="4526280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Logo à gauche, menu à droite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21992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 OFFICE</a:t>
            </a:r>
            <a:endParaRPr lang="en-US" sz="1100" dirty="0"/>
          </a:p>
        </p:txBody>
      </p:sp>
      <p:sp>
        <p:nvSpPr>
          <p:cNvPr id="7" name="Conteneur flex"/>
          <p:cNvSpPr/>
          <p:nvPr/>
        </p:nvSpPr>
        <p:spPr>
          <a:xfrm>
            <a:off x="777240" y="2560320"/>
            <a:ext cx="3057144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8" name="Élément LOGO"/>
          <p:cNvSpPr txBox="1"/>
          <p:nvPr/>
        </p:nvSpPr>
        <p:spPr>
          <a:xfrm>
            <a:off x="914400" y="2926080"/>
            <a:ext cx="731520" cy="4572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200" dirty="0"/>
          </a:p>
        </p:txBody>
      </p:sp>
      <p:sp>
        <p:nvSpPr>
          <p:cNvPr id="9" name="Élément Lien"/>
          <p:cNvSpPr txBox="1"/>
          <p:nvPr/>
        </p:nvSpPr>
        <p:spPr>
          <a:xfrm>
            <a:off x="2142744" y="2971800"/>
            <a:ext cx="47548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10" name="Élément Lien"/>
          <p:cNvSpPr txBox="1"/>
          <p:nvPr/>
        </p:nvSpPr>
        <p:spPr>
          <a:xfrm>
            <a:off x="2673096" y="2971800"/>
            <a:ext cx="47548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11" name="Élément Lien"/>
          <p:cNvSpPr txBox="1"/>
          <p:nvPr/>
        </p:nvSpPr>
        <p:spPr>
          <a:xfrm>
            <a:off x="3203448" y="2971800"/>
            <a:ext cx="47548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12" name="Code"/>
          <p:cNvSpPr txBox="1"/>
          <p:nvPr/>
        </p:nvSpPr>
        <p:spPr>
          <a:xfrm>
            <a:off x="777240" y="3931920"/>
            <a:ext cx="3057144" cy="2057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space-between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Recette Logo au-dessus du menu, centrés"/>
          <p:cNvSpPr/>
          <p:nvPr/>
        </p:nvSpPr>
        <p:spPr>
          <a:xfrm>
            <a:off x="4337304" y="1691640"/>
            <a:ext cx="3514344" cy="4526280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5904" y="187452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Logo au-dessus du menu, centrés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65904" y="2221992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 &amp; CHIPS</a:t>
            </a:r>
            <a:endParaRPr lang="en-US" sz="1100" dirty="0"/>
          </a:p>
        </p:txBody>
      </p:sp>
      <p:sp>
        <p:nvSpPr>
          <p:cNvPr id="16" name="Conteneur flex"/>
          <p:cNvSpPr/>
          <p:nvPr/>
        </p:nvSpPr>
        <p:spPr>
          <a:xfrm>
            <a:off x="4565904" y="2560320"/>
            <a:ext cx="3057144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7" name="Élément LOGO"/>
          <p:cNvSpPr txBox="1"/>
          <p:nvPr/>
        </p:nvSpPr>
        <p:spPr>
          <a:xfrm>
            <a:off x="5728716" y="2724912"/>
            <a:ext cx="73152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200" dirty="0"/>
          </a:p>
        </p:txBody>
      </p:sp>
      <p:sp>
        <p:nvSpPr>
          <p:cNvPr id="18" name="Élément Lien"/>
          <p:cNvSpPr txBox="1"/>
          <p:nvPr/>
        </p:nvSpPr>
        <p:spPr>
          <a:xfrm>
            <a:off x="5317236" y="3218688"/>
            <a:ext cx="47548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19" name="Élément Lien"/>
          <p:cNvSpPr txBox="1"/>
          <p:nvPr/>
        </p:nvSpPr>
        <p:spPr>
          <a:xfrm>
            <a:off x="5847588" y="3218688"/>
            <a:ext cx="47548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20" name="Élément Lien"/>
          <p:cNvSpPr txBox="1"/>
          <p:nvPr/>
        </p:nvSpPr>
        <p:spPr>
          <a:xfrm>
            <a:off x="6377940" y="3218688"/>
            <a:ext cx="47548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21" name="Code"/>
          <p:cNvSpPr txBox="1"/>
          <p:nvPr/>
        </p:nvSpPr>
        <p:spPr>
          <a:xfrm>
            <a:off x="4565904" y="3931920"/>
            <a:ext cx="3057144" cy="2057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Recette Icône au-dessus du texte"/>
          <p:cNvSpPr/>
          <p:nvPr/>
        </p:nvSpPr>
        <p:spPr>
          <a:xfrm>
            <a:off x="8125968" y="1691640"/>
            <a:ext cx="3514344" cy="4526280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54568" y="187452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Icône au-dessus du texte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54568" y="2221992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ILA YOGA</a:t>
            </a:r>
            <a:endParaRPr lang="en-US" sz="1100" dirty="0"/>
          </a:p>
        </p:txBody>
      </p:sp>
      <p:sp>
        <p:nvSpPr>
          <p:cNvPr id="25" name="Conteneur flex"/>
          <p:cNvSpPr/>
          <p:nvPr/>
        </p:nvSpPr>
        <p:spPr>
          <a:xfrm>
            <a:off x="8354568" y="2560320"/>
            <a:ext cx="3057144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6" name="Élément ico"/>
          <p:cNvSpPr txBox="1"/>
          <p:nvPr/>
        </p:nvSpPr>
        <p:spPr>
          <a:xfrm>
            <a:off x="9083040" y="27660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77300" y="32049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Agenda</a:t>
            </a:r>
            <a:endParaRPr lang="en-US" sz="1200" dirty="0"/>
          </a:p>
        </p:txBody>
      </p:sp>
      <p:sp>
        <p:nvSpPr>
          <p:cNvPr id="28" name="Élément ico"/>
          <p:cNvSpPr txBox="1"/>
          <p:nvPr/>
        </p:nvSpPr>
        <p:spPr>
          <a:xfrm>
            <a:off x="10271760" y="2766060"/>
            <a:ext cx="4114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066020" y="32049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Contact</a:t>
            </a:r>
            <a:endParaRPr lang="en-US" sz="1200" dirty="0"/>
          </a:p>
        </p:txBody>
      </p:sp>
      <p:sp>
        <p:nvSpPr>
          <p:cNvPr id="30" name="Code"/>
          <p:cNvSpPr txBox="1"/>
          <p:nvPr/>
        </p:nvSpPr>
        <p:spPr>
          <a:xfrm>
            <a:off x="8354568" y="3931920"/>
            <a:ext cx="3057144" cy="2057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5 · RECETTES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Trois autres cas utiles</a:t>
            </a:r>
            <a:endParaRPr lang="en-US" sz="3600" dirty="0"/>
          </a:p>
        </p:txBody>
      </p:sp>
      <p:sp>
        <p:nvSpPr>
          <p:cNvPr id="4" name="Recette Image fixe, texte fluide"/>
          <p:cNvSpPr/>
          <p:nvPr/>
        </p:nvSpPr>
        <p:spPr>
          <a:xfrm>
            <a:off x="548640" y="1691640"/>
            <a:ext cx="3514344" cy="4526280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Image fixe, texte fluide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21992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ILA YOGA</a:t>
            </a:r>
            <a:endParaRPr lang="en-US" sz="1100" dirty="0"/>
          </a:p>
        </p:txBody>
      </p:sp>
      <p:sp>
        <p:nvSpPr>
          <p:cNvPr id="7" name="Conteneur flex"/>
          <p:cNvSpPr/>
          <p:nvPr/>
        </p:nvSpPr>
        <p:spPr>
          <a:xfrm>
            <a:off x="777240" y="2560320"/>
            <a:ext cx="3057144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8" name="Élément IMG"/>
          <p:cNvSpPr txBox="1"/>
          <p:nvPr/>
        </p:nvSpPr>
        <p:spPr>
          <a:xfrm>
            <a:off x="914400" y="2697480"/>
            <a:ext cx="685800" cy="438912"/>
          </a:xfrm>
          <a:prstGeom prst="roundRect">
            <a:avLst>
              <a:gd name="adj" fmla="val 1041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endParaRPr lang="en-US" sz="1200" dirty="0"/>
          </a:p>
        </p:txBody>
      </p:sp>
      <p:sp>
        <p:nvSpPr>
          <p:cNvPr id="9" name="Ligne de texte"/>
          <p:cNvSpPr/>
          <p:nvPr/>
        </p:nvSpPr>
        <p:spPr>
          <a:xfrm>
            <a:off x="1709928" y="2734056"/>
            <a:ext cx="1987296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igne de texte"/>
          <p:cNvSpPr/>
          <p:nvPr/>
        </p:nvSpPr>
        <p:spPr>
          <a:xfrm>
            <a:off x="1709928" y="2889504"/>
            <a:ext cx="1987296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Ligne de texte"/>
          <p:cNvSpPr/>
          <p:nvPr/>
        </p:nvSpPr>
        <p:spPr>
          <a:xfrm>
            <a:off x="1709928" y="3044952"/>
            <a:ext cx="1192378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Élément IMG"/>
          <p:cNvSpPr txBox="1"/>
          <p:nvPr/>
        </p:nvSpPr>
        <p:spPr>
          <a:xfrm>
            <a:off x="3011424" y="3264408"/>
            <a:ext cx="685800" cy="438912"/>
          </a:xfrm>
          <a:prstGeom prst="roundRect">
            <a:avLst>
              <a:gd name="adj" fmla="val 1041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endParaRPr lang="en-US" sz="1200" dirty="0"/>
          </a:p>
        </p:txBody>
      </p:sp>
      <p:sp>
        <p:nvSpPr>
          <p:cNvPr id="13" name="Ligne de texte"/>
          <p:cNvSpPr/>
          <p:nvPr/>
        </p:nvSpPr>
        <p:spPr>
          <a:xfrm>
            <a:off x="914400" y="3300984"/>
            <a:ext cx="1987296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igne de texte"/>
          <p:cNvSpPr/>
          <p:nvPr/>
        </p:nvSpPr>
        <p:spPr>
          <a:xfrm>
            <a:off x="914400" y="3456432"/>
            <a:ext cx="1987296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igne de texte"/>
          <p:cNvSpPr/>
          <p:nvPr/>
        </p:nvSpPr>
        <p:spPr>
          <a:xfrm>
            <a:off x="914400" y="3611880"/>
            <a:ext cx="1192378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Code"/>
          <p:cNvSpPr txBox="1"/>
          <p:nvPr/>
        </p:nvSpPr>
        <p:spPr>
          <a:xfrm>
            <a:off x="777240" y="3931920"/>
            <a:ext cx="3057144" cy="2057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.feature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25px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.feature img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0 395px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.feature--reverse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row-reverse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Recette Menu : colonne puis ligne"/>
          <p:cNvSpPr/>
          <p:nvPr/>
        </p:nvSpPr>
        <p:spPr>
          <a:xfrm>
            <a:off x="4337304" y="1691640"/>
            <a:ext cx="3514344" cy="4526280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65904" y="187452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Menu : colonne puis ligne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65904" y="2221992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CREASOUL</a:t>
            </a:r>
            <a:endParaRPr lang="en-US" sz="1100" dirty="0"/>
          </a:p>
        </p:txBody>
      </p:sp>
      <p:sp>
        <p:nvSpPr>
          <p:cNvPr id="20" name="Conteneur flex"/>
          <p:cNvSpPr/>
          <p:nvPr/>
        </p:nvSpPr>
        <p:spPr>
          <a:xfrm>
            <a:off x="4565904" y="2560320"/>
            <a:ext cx="3057144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1" name="Élément Lien"/>
          <p:cNvSpPr txBox="1"/>
          <p:nvPr/>
        </p:nvSpPr>
        <p:spPr>
          <a:xfrm>
            <a:off x="4703064" y="2697480"/>
            <a:ext cx="640080" cy="27432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22" name="Élément Lien"/>
          <p:cNvSpPr txBox="1"/>
          <p:nvPr/>
        </p:nvSpPr>
        <p:spPr>
          <a:xfrm>
            <a:off x="4703064" y="3017520"/>
            <a:ext cx="640080" cy="27432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23" name="Élément Lien"/>
          <p:cNvSpPr txBox="1"/>
          <p:nvPr/>
        </p:nvSpPr>
        <p:spPr>
          <a:xfrm>
            <a:off x="4703064" y="3337560"/>
            <a:ext cx="640080" cy="27432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34584" y="2971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3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Élément Lien"/>
          <p:cNvSpPr txBox="1"/>
          <p:nvPr/>
        </p:nvSpPr>
        <p:spPr>
          <a:xfrm>
            <a:off x="5846064" y="2971800"/>
            <a:ext cx="51612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26" name="Élément Lien"/>
          <p:cNvSpPr txBox="1"/>
          <p:nvPr/>
        </p:nvSpPr>
        <p:spPr>
          <a:xfrm>
            <a:off x="6407912" y="2971800"/>
            <a:ext cx="51612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27" name="Élément Lien"/>
          <p:cNvSpPr txBox="1"/>
          <p:nvPr/>
        </p:nvSpPr>
        <p:spPr>
          <a:xfrm>
            <a:off x="6969760" y="2971800"/>
            <a:ext cx="516128" cy="3657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846064" y="3383280"/>
            <a:ext cx="1639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1024px</a:t>
            </a:r>
            <a:endParaRPr lang="en-US" sz="1000" dirty="0"/>
          </a:p>
        </p:txBody>
      </p:sp>
      <p:sp>
        <p:nvSpPr>
          <p:cNvPr id="29" name="Code"/>
          <p:cNvSpPr txBox="1"/>
          <p:nvPr/>
        </p:nvSpPr>
        <p:spPr>
          <a:xfrm>
            <a:off x="4565904" y="3931920"/>
            <a:ext cx="3057144" cy="2057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ul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1024px)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 ul {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 li {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Recette Centrer parfaitement"/>
          <p:cNvSpPr/>
          <p:nvPr/>
        </p:nvSpPr>
        <p:spPr>
          <a:xfrm>
            <a:off x="8125968" y="1691640"/>
            <a:ext cx="3514344" cy="4526280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54568" y="187452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Centrer parfaitement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54568" y="2221992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PARTOUT</a:t>
            </a:r>
            <a:endParaRPr lang="en-US" sz="1100" dirty="0"/>
          </a:p>
        </p:txBody>
      </p:sp>
      <p:sp>
        <p:nvSpPr>
          <p:cNvPr id="33" name="Conteneur flex"/>
          <p:cNvSpPr/>
          <p:nvPr/>
        </p:nvSpPr>
        <p:spPr>
          <a:xfrm>
            <a:off x="8354568" y="2560320"/>
            <a:ext cx="3057144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4" name="Élément Centré"/>
          <p:cNvSpPr txBox="1"/>
          <p:nvPr/>
        </p:nvSpPr>
        <p:spPr>
          <a:xfrm>
            <a:off x="9380220" y="2948940"/>
            <a:ext cx="100584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Centré</a:t>
            </a:r>
            <a:endParaRPr lang="en-US" sz="1200" dirty="0"/>
          </a:p>
        </p:txBody>
      </p:sp>
      <p:sp>
        <p:nvSpPr>
          <p:cNvPr id="35" name="Code"/>
          <p:cNvSpPr txBox="1"/>
          <p:nvPr/>
        </p:nvSpPr>
        <p:spPr>
          <a:xfrm>
            <a:off x="8354568" y="3931920"/>
            <a:ext cx="3057144" cy="2057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.parent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6 · PIÈGES FRÉQUENTS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Quand « ça ne marche pas »</a:t>
            </a:r>
            <a:endParaRPr lang="en-US" sz="3600" dirty="0"/>
          </a:p>
        </p:txBody>
      </p:sp>
      <p:sp>
        <p:nvSpPr>
          <p:cNvPr id="4" name="Piège 1"/>
          <p:cNvSpPr/>
          <p:nvPr/>
        </p:nvSpPr>
        <p:spPr>
          <a:xfrm>
            <a:off x="548640" y="169164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Icône piège"/>
          <p:cNvSpPr txBox="1"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92808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display: flex sur le mauvais élément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Il se met sur le parent de ce qu'on veut aligner. Pour un menu, c'est le &lt;ul&gt; qui est en flex, pas les &lt;li&gt;.</a:t>
            </a:r>
            <a:endParaRPr lang="en-US" sz="1300" dirty="0"/>
          </a:p>
        </p:txBody>
      </p:sp>
      <p:sp>
        <p:nvSpPr>
          <p:cNvPr id="8" name="Piège 2"/>
          <p:cNvSpPr/>
          <p:nvPr/>
        </p:nvSpPr>
        <p:spPr>
          <a:xfrm>
            <a:off x="4337304" y="169164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Icône piège"/>
          <p:cNvSpPr txBox="1"/>
          <p:nvPr/>
        </p:nvSpPr>
        <p:spPr>
          <a:xfrm>
            <a:off x="4565904" y="1920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87112" y="1892808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justify et align inversés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56032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En flex-direction: column, justify-content agit verticalement et align-items horizontalement.</a:t>
            </a:r>
            <a:endParaRPr lang="en-US" sz="1300" dirty="0"/>
          </a:p>
        </p:txBody>
      </p:sp>
      <p:sp>
        <p:nvSpPr>
          <p:cNvPr id="12" name="Piège 3"/>
          <p:cNvSpPr/>
          <p:nvPr/>
        </p:nvSpPr>
        <p:spPr>
          <a:xfrm>
            <a:off x="8125968" y="169164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Icône piège"/>
          <p:cNvSpPr txBox="1"/>
          <p:nvPr/>
        </p:nvSpPr>
        <p:spPr>
          <a:xfrm>
            <a:off x="8354568" y="1920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875776" y="1892808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Rien ne se centre verticalement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54568" y="256032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Le parent n'a pas de hauteur, donc pas d'espace à répartir. Lui donner une height ou une min-height.</a:t>
            </a:r>
            <a:endParaRPr lang="en-US" sz="1300" dirty="0"/>
          </a:p>
        </p:txBody>
      </p:sp>
      <p:sp>
        <p:nvSpPr>
          <p:cNvPr id="16" name="Piège 4"/>
          <p:cNvSpPr/>
          <p:nvPr/>
        </p:nvSpPr>
        <p:spPr>
          <a:xfrm>
            <a:off x="548640" y="406908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Icône piège"/>
          <p:cNvSpPr txBox="1"/>
          <p:nvPr/>
        </p:nvSpPr>
        <p:spPr>
          <a:xfrm>
            <a:off x="7772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270248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texte déborde du conteneur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3776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Un enfant flex ne rétrécit pas sous la largeur de son contenu. Ajouter min-width: 0 sur cet enfant.</a:t>
            </a:r>
            <a:endParaRPr lang="en-US" sz="1300" dirty="0"/>
          </a:p>
        </p:txBody>
      </p:sp>
      <p:sp>
        <p:nvSpPr>
          <p:cNvPr id="20" name="Piège 5"/>
          <p:cNvSpPr/>
          <p:nvPr/>
        </p:nvSpPr>
        <p:spPr>
          <a:xfrm>
            <a:off x="4337304" y="406908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Icône piège"/>
          <p:cNvSpPr txBox="1"/>
          <p:nvPr/>
        </p:nvSpPr>
        <p:spPr>
          <a:xfrm>
            <a:off x="4565904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087112" y="4270248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Habiller une image avec du texte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65904" y="493776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Flex range des blocs côte à côte, il ne fait pas couler le texte autour d'une image. Pour ça : float (Green Office).</a:t>
            </a:r>
            <a:endParaRPr lang="en-US" sz="1300" dirty="0"/>
          </a:p>
        </p:txBody>
      </p:sp>
      <p:sp>
        <p:nvSpPr>
          <p:cNvPr id="24" name="Piège 6"/>
          <p:cNvSpPr/>
          <p:nvPr/>
        </p:nvSpPr>
        <p:spPr>
          <a:xfrm>
            <a:off x="8125968" y="406908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5" name="Icône piège"/>
          <p:cNvSpPr txBox="1"/>
          <p:nvPr/>
        </p:nvSpPr>
        <p:spPr>
          <a:xfrm>
            <a:off x="8354568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875776" y="4270248"/>
            <a:ext cx="255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float ignoré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54568" y="493776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Un float posé sur un enfant flex n'a aucun effet. Il faut choisir l'un ou l'autre.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chemeClr val="accent6"/>
                </a:solidFill>
              </a:rPr>
              <a:t>7 · S'ENTRAÎNER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À vous de jouer</a:t>
            </a:r>
            <a:endParaRPr lang="en-US" sz="4400" dirty="0"/>
          </a:p>
        </p:txBody>
      </p:sp>
      <p:sp>
        <p:nvSpPr>
          <p:cNvPr id="4" name="Ressource Flexbox Froggy"/>
          <p:cNvSpPr/>
          <p:nvPr/>
        </p:nvSpPr>
        <p:spPr>
          <a:xfrm>
            <a:off x="548640" y="2148840"/>
            <a:ext cx="3514344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Flexbox Froggy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Un jeu en 24 niveaux pour s'entraîner à justify-content, align-items et flex-direction.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flexboxfroggy.com</a:t>
            </a:r>
            <a:endParaRPr lang="en-US" sz="1100" dirty="0"/>
          </a:p>
        </p:txBody>
      </p:sp>
      <p:sp>
        <p:nvSpPr>
          <p:cNvPr id="9" name="Ressource La référence MDN"/>
          <p:cNvSpPr/>
          <p:nvPr/>
        </p:nvSpPr>
        <p:spPr>
          <a:xfrm>
            <a:off x="4337304" y="2148840"/>
            <a:ext cx="3514344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1624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1624" y="301752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La référence MDN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1624" y="34747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La documentation complète de flexbox, en français, avec des exemples modifiables.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1624" y="438912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developer.mozilla.org</a:t>
            </a:r>
            <a:endParaRPr lang="en-US" sz="1100" dirty="0"/>
          </a:p>
        </p:txBody>
      </p:sp>
      <p:sp>
        <p:nvSpPr>
          <p:cNvPr id="14" name="Ressource Exercice"/>
          <p:cNvSpPr/>
          <p:nvPr/>
        </p:nvSpPr>
        <p:spPr>
          <a:xfrm>
            <a:off x="8125968" y="2148840"/>
            <a:ext cx="3514344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00288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00288" y="3017520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Exercice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00288" y="34747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Recréer la navigation des quatre maquettes de l'atelier, sans regarder la correction.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00288" y="438912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 Office · Fish &amp; Chips · Ila Yoga · CreaSoul</a:t>
            </a:r>
            <a:endParaRPr lang="en-US" sz="1100" dirty="0"/>
          </a:p>
        </p:txBody>
      </p:sp>
      <p:sp>
        <p:nvSpPr>
          <p:cNvPr id="19" name="Flèche d'axe"/>
          <p:cNvSpPr/>
          <p:nvPr/>
        </p:nvSpPr>
        <p:spPr>
          <a:xfrm>
            <a:off x="548640" y="5806440"/>
            <a:ext cx="8229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554480" y="5650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r>
              <a:rPr lang="en-US" sz="1500" dirty="0">
                <a:solidFill>
                  <a:schemeClr val="bg1"/>
                </a:solidFill>
              </a:rPr>
              <a:t> : axe principal</a:t>
            </a:r>
            <a:endParaRPr lang="en-US" sz="1500" dirty="0"/>
          </a:p>
        </p:txBody>
      </p:sp>
      <p:sp>
        <p:nvSpPr>
          <p:cNvPr id="21" name="Flèche d'axe"/>
          <p:cNvSpPr/>
          <p:nvPr/>
        </p:nvSpPr>
        <p:spPr>
          <a:xfrm>
            <a:off x="6245352" y="5806440"/>
            <a:ext cx="8229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251192" y="5650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r>
              <a:rPr lang="en-US" sz="1500" dirty="0">
                <a:solidFill>
                  <a:schemeClr val="bg1"/>
                </a:solidFill>
              </a:rPr>
              <a:t> : axe secondaire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mo Flexbox">
  <a:themeElements>
    <a:clrScheme name="Memo Flexbox">
      <a:dk1>
        <a:srgbClr val="1B2232"/>
      </a:dk1>
      <a:lt1>
        <a:srgbClr val="FFFFFF"/>
      </a:lt1>
      <a:dk2>
        <a:srgbClr val="26324A"/>
      </a:dk2>
      <a:lt2>
        <a:srgbClr val="F4F6F9"/>
      </a:lt2>
      <a:accent1>
        <a:srgbClr val="D9480F"/>
      </a:accent1>
      <a:accent2>
        <a:srgbClr val="1971C2"/>
      </a:accent2>
      <a:accent3>
        <a:srgbClr val="5A6478"/>
      </a:accent3>
      <a:accent4>
        <a:srgbClr val="D8DDE6"/>
      </a:accent4>
      <a:accent5>
        <a:srgbClr val="2F9E44"/>
      </a:accent5>
      <a:accent6>
        <a:srgbClr val="FDE8DE"/>
      </a:accent6>
      <a:hlink>
        <a:srgbClr val="1971C2"/>
      </a:hlink>
      <a:folHlink>
        <a:srgbClr val="5A6478"/>
      </a:folHlink>
    </a:clrScheme>
    <a:fontScheme name="Memo Flexbo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1780</Words>
  <Application>Microsoft Office PowerPoint</Application>
  <PresentationFormat>Grand écran</PresentationFormat>
  <Paragraphs>356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Memo Flexbox</vt:lpstr>
      <vt:lpstr>Flexbox</vt:lpstr>
      <vt:lpstr>Un parent flex, des enfants qui s'alignent</vt:lpstr>
      <vt:lpstr>Deux axes, qui pivotent avec flex-direction</vt:lpstr>
      <vt:lpstr>flex-direction : le sens</vt:lpstr>
      <vt:lpstr>justify-content : répartir sur l'axe principal</vt:lpstr>
      <vt:lpstr>align-items : aligner sur l'axe secondaire</vt:lpstr>
      <vt:lpstr>flex-wrap et gap : aller à la ligne, espacer</vt:lpstr>
      <vt:lpstr>flex : grandir ou garder une largeur fixe</vt:lpstr>
      <vt:lpstr>Se placer : margin auto, align-self, order</vt:lpstr>
      <vt:lpstr>Trois en-têtes vus dans nos maquettes</vt:lpstr>
      <vt:lpstr>Trois autres cas utiles</vt:lpstr>
      <vt:lpstr>Quand « ça ne marche pas »</vt:lpstr>
      <vt:lpstr>À vous de jouer</vt:lpstr>
    </vt:vector>
  </TitlesOfParts>
  <Company>Formation 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Mémo Flexbox</dc:title>
  <dc:subject>Flexbox</dc:subject>
  <dc:creator>Formation web</dc:creator>
  <cp:lastModifiedBy>Harouna Kane</cp:lastModifiedBy>
  <cp:revision>1</cp:revision>
  <dcterms:modified xsi:type="dcterms:W3CDTF">2026-10-14T19:54:49Z</dcterms:modified>
</cp:coreProperties>
</file>